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540" r:id="rId5"/>
    <p:sldId id="883" r:id="rId6"/>
    <p:sldId id="550" r:id="rId7"/>
    <p:sldId id="545" r:id="rId8"/>
    <p:sldId id="882" r:id="rId9"/>
    <p:sldId id="880" r:id="rId10"/>
    <p:sldId id="877" r:id="rId11"/>
    <p:sldId id="527" r:id="rId12"/>
    <p:sldId id="844" r:id="rId13"/>
    <p:sldId id="873" r:id="rId14"/>
    <p:sldId id="872" r:id="rId15"/>
    <p:sldId id="876" r:id="rId16"/>
    <p:sldId id="879" r:id="rId17"/>
    <p:sldId id="881" r:id="rId18"/>
    <p:sldId id="8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5E2E6D-6F69-4FD2-3D03-46A2D58A4BF1}" name="Kristen Harley" initials="KH" userId="S::uqkharl3@uq.edu.au::1291617e-df13-4f13-89e4-3466cfb376a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1CC"/>
    <a:srgbClr val="51247A"/>
    <a:srgbClr val="962A8B"/>
    <a:srgbClr val="E62645"/>
    <a:srgbClr val="2EA836"/>
    <a:srgbClr val="D9AC6D"/>
    <a:srgbClr val="EB602B"/>
    <a:srgbClr val="FBB800"/>
    <a:srgbClr val="4085C6"/>
    <a:srgbClr val="00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72" autoAdjust="0"/>
    <p:restoredTop sz="96315" autoAdjust="0"/>
  </p:normalViewPr>
  <p:slideViewPr>
    <p:cSldViewPr showGuides="1">
      <p:cViewPr>
        <p:scale>
          <a:sx n="66" d="100"/>
          <a:sy n="66" d="100"/>
        </p:scale>
        <p:origin x="4000" y="20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notesViewPr>
    <p:cSldViewPr showGuides="1">
      <p:cViewPr varScale="1">
        <p:scale>
          <a:sx n="84" d="100"/>
          <a:sy n="84" d="100"/>
        </p:scale>
        <p:origin x="3024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23/5/2025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22/5/2025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5061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is a computer?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does it run on?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 does it do calculations?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9673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FF0D1-2CE9-071D-C759-A02E618E3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5FEF75-8DCA-E112-B938-ECB2D5CC7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0108A-B17B-2B7D-D6C9-2561B08E4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192 years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10807-8A5F-4C99-E0C0-500D1F3CD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7906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9FD7C-E4F4-E22F-2DF5-F9E507BD1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E9F60-736E-99FC-A2B3-DFE45B181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48BA5-895B-5A94-9955-1222495E5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192 years </a:t>
            </a:r>
          </a:p>
          <a:p>
            <a:r>
              <a:rPr lang="en-US" dirty="0"/>
              <a:t>Who has done double split experiment with light?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51048-3A01-495D-25CC-26D99BCDE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683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62534-E37C-E269-A377-8D393DDE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1D12B-0215-0E82-85AA-1F5BC7983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63C54-EE2C-5B4F-EFED-E93E9F152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0AC0C-C705-7851-C7C6-D9D421F92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8327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1134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1D566-0721-0024-7BD5-51B34CD51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95425-821A-938E-2BEA-8A164C4BD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1C8A7-213E-2FDF-842F-8CC7EF2E2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C191F-6B1C-0924-B4B1-EEB61B4A4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1673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F18E8-4E6D-D19A-399D-CDC7F6A99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45C45-F86B-0826-1B34-178C74749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2C77A-CC9D-3BA0-2A60-523DDBE5B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7ECCB-CCF5-471B-F5E7-FFBDDCD9A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6577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gradFill>
          <a:gsLst>
            <a:gs pos="0">
              <a:srgbClr val="962A8B"/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A365323-3F4C-42A2-A8C5-E7C02EECE16E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rgbClr val="FFFFFF"/>
          </a:soli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rgbClr val="51247A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rgbClr val="999490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98853-2263-DFE9-D4DB-349744566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7F7E37-8565-4210-8CB9-D04B2BAF361C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rgbClr val="51247A"/>
              </a:gs>
              <a:gs pos="100000">
                <a:srgbClr val="962A8B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2B1D37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5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3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AC95EBE-2B41-83C2-04AE-F53ADADC55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E9A60ED-79D3-4B3F-A150-9831CF002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7492" y="282703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BCDA3659-A7C6-451A-99C1-5E9DC9C183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7464" y="435405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3BFDD502-55B1-4F89-AAFD-9DDC1140D5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3043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19C6CF3-60A7-899D-2A0B-5CB145E232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2D5D6F3A-F693-467C-8FA0-0B09E09F29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6432C9E-CC92-4B1E-A531-00A7F945E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2" y="2012082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8B01333-1B7A-4924-B0F3-974EA92411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03484" y="3539108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4435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108013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bg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6D860FF-5915-48B3-96B5-BDDDACDE2D9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47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52728D9-330E-4A47-BE87-2C464601F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060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3D519AF-5E53-4F24-9084-2ECF7327DF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060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187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33D7B8C2-1ACD-4312-8BB3-841697FC26B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59418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7C8792C-10BA-48BD-91FF-8BB0072B6A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0449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494265EF-BC1F-4AB5-88E0-D2CC95870C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0449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DC9F8E9D-A5AE-4007-AFF1-906BE27AA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0449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90AC9C95-FAAF-44D7-AEB3-55A9BA4075C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36562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7D5366-0884-4D47-8F5E-DD26E47DD2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775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C83CABAB-7230-4828-B1F7-E11FB1176D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775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0B955060-0E65-456F-85F2-CD9B3DBD9B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1902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2" name="Content Placeholder 12">
            <a:extLst>
              <a:ext uri="{FF2B5EF4-FFF2-40B4-BE49-F238E27FC236}">
                <a16:creationId xmlns:a16="http://schemas.microsoft.com/office/drawing/2014/main" id="{2A4F6196-3D0F-4BE0-BD3B-C9E36BBF744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847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15E2C50B-2DC6-47F9-8D16-3E43EFD224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2060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D86CC074-C4DF-413B-ACFC-9E921389E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2060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4DD3C6CB-D673-40EE-8AC2-EA848771B0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187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6" name="Content Placeholder 12">
            <a:extLst>
              <a:ext uri="{FF2B5EF4-FFF2-40B4-BE49-F238E27FC236}">
                <a16:creationId xmlns:a16="http://schemas.microsoft.com/office/drawing/2014/main" id="{E5BA1771-59AA-4B95-84C2-A2C23AE5557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59418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3FC25C93-61F9-4858-8D53-31D7E13980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80449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458C094-0FA6-4661-80B1-A1C24EF0BB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0449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33782FA8-9B6E-4664-B875-77934A4917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80449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0" name="Content Placeholder 12">
            <a:extLst>
              <a:ext uri="{FF2B5EF4-FFF2-40B4-BE49-F238E27FC236}">
                <a16:creationId xmlns:a16="http://schemas.microsoft.com/office/drawing/2014/main" id="{43ED1C2D-FB28-4009-ABB2-35B70129FE4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36562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571D6157-5171-4A88-B293-E5785627E6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9775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1A0723DC-167A-473B-8982-DB2CD67B78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9775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2FD5A5C2-3945-4278-8171-1CFA062D76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902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4" name="Content Placeholder 12">
            <a:extLst>
              <a:ext uri="{FF2B5EF4-FFF2-40B4-BE49-F238E27FC236}">
                <a16:creationId xmlns:a16="http://schemas.microsoft.com/office/drawing/2014/main" id="{3D7C1F14-FF83-4A5C-8785-0569A6264661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47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FBE7A19C-BA51-4BB3-A97B-787DA18F433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2060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8EFD3BF2-E5BF-4460-A89A-9CBD1D82AA5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2060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8" name="Content Placeholder 12">
            <a:extLst>
              <a:ext uri="{FF2B5EF4-FFF2-40B4-BE49-F238E27FC236}">
                <a16:creationId xmlns:a16="http://schemas.microsoft.com/office/drawing/2014/main" id="{8B09213D-B0C4-4971-AFC3-14487E606D8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559418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B7C446BC-D372-4F4C-8AEC-4B7E9BBE676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80449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379728B0-640A-4AEB-A53D-B96E74DEDB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80449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52" name="Content Placeholder 12">
            <a:extLst>
              <a:ext uri="{FF2B5EF4-FFF2-40B4-BE49-F238E27FC236}">
                <a16:creationId xmlns:a16="http://schemas.microsoft.com/office/drawing/2014/main" id="{2316115E-183D-401B-8D79-7D52C71BE5BB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36562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5106E342-47D6-4C57-9118-A96CCCEB4E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9775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4" name="Text Placeholder 15">
            <a:extLst>
              <a:ext uri="{FF2B5EF4-FFF2-40B4-BE49-F238E27FC236}">
                <a16:creationId xmlns:a16="http://schemas.microsoft.com/office/drawing/2014/main" id="{5CDB8DBC-A756-4D95-B21B-BDFC207DBDC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79775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7182E29-C7AC-013C-C6C7-4BBA4EF833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0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CEE259B-5A66-48E0-9302-42413213AC23}"/>
              </a:ext>
            </a:extLst>
          </p:cNvPr>
          <p:cNvSpPr/>
          <p:nvPr userDrawn="1"/>
        </p:nvSpPr>
        <p:spPr>
          <a:xfrm>
            <a:off x="0" y="1"/>
            <a:ext cx="50504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33845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accent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096000" y="1557338"/>
            <a:ext cx="5400675" cy="4751387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table</a:t>
            </a:r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BD600-58DD-3483-3A7A-7A4FC44325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4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55778" y="1557338"/>
            <a:ext cx="647613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tx2"/>
                </a:solidFill>
                <a:latin typeface="Gotham Medium" panose="02000604030000020004" pitchFamily="50" charset="0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4EAA35-7624-467A-AA0C-E7DE247BC9C7}"/>
              </a:ext>
            </a:extLst>
          </p:cNvPr>
          <p:cNvSpPr/>
          <p:nvPr/>
        </p:nvSpPr>
        <p:spPr>
          <a:xfrm>
            <a:off x="-1" y="3748429"/>
            <a:ext cx="12200354" cy="3109571"/>
          </a:xfrm>
          <a:custGeom>
            <a:avLst/>
            <a:gdLst>
              <a:gd name="connsiteX0" fmla="*/ 0 w 12200354"/>
              <a:gd name="connsiteY0" fmla="*/ 203868 h 3109571"/>
              <a:gd name="connsiteX1" fmla="*/ 11945 w 12200354"/>
              <a:gd name="connsiteY1" fmla="*/ 427414 h 3109571"/>
              <a:gd name="connsiteX2" fmla="*/ 2547169 w 12200354"/>
              <a:gd name="connsiteY2" fmla="*/ 3109399 h 3109571"/>
              <a:gd name="connsiteX3" fmla="*/ 2707755 w 12200354"/>
              <a:gd name="connsiteY3" fmla="*/ 3109399 h 3109571"/>
              <a:gd name="connsiteX4" fmla="*/ 2707755 w 12200354"/>
              <a:gd name="connsiteY4" fmla="*/ 3109571 h 3109571"/>
              <a:gd name="connsiteX5" fmla="*/ 0 w 12200354"/>
              <a:gd name="connsiteY5" fmla="*/ 3109571 h 3109571"/>
              <a:gd name="connsiteX6" fmla="*/ 12199992 w 12200354"/>
              <a:gd name="connsiteY6" fmla="*/ 0 h 3109571"/>
              <a:gd name="connsiteX7" fmla="*/ 12200354 w 12200354"/>
              <a:gd name="connsiteY7" fmla="*/ 0 h 3109571"/>
              <a:gd name="connsiteX8" fmla="*/ 12200354 w 12200354"/>
              <a:gd name="connsiteY8" fmla="*/ 3109571 h 3109571"/>
              <a:gd name="connsiteX9" fmla="*/ 9492599 w 12200354"/>
              <a:gd name="connsiteY9" fmla="*/ 3109571 h 3109571"/>
              <a:gd name="connsiteX10" fmla="*/ 9492599 w 12200354"/>
              <a:gd name="connsiteY10" fmla="*/ 3109399 h 3109571"/>
              <a:gd name="connsiteX11" fmla="*/ 12199992 w 12200354"/>
              <a:gd name="connsiteY11" fmla="*/ 3109399 h 3109571"/>
              <a:gd name="connsiteX12" fmla="*/ 10882585 w 12200354"/>
              <a:gd name="connsiteY12" fmla="*/ 2689921 h 3109571"/>
              <a:gd name="connsiteX13" fmla="*/ 9954919 w 12200354"/>
              <a:gd name="connsiteY13" fmla="*/ 2853835 h 3109571"/>
              <a:gd name="connsiteX14" fmla="*/ 10955864 w 12200354"/>
              <a:gd name="connsiteY14" fmla="*/ 2008077 h 3109571"/>
              <a:gd name="connsiteX15" fmla="*/ 12199992 w 12200354"/>
              <a:gd name="connsiteY15" fmla="*/ 1975802 h 310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00354" h="3109571">
                <a:moveTo>
                  <a:pt x="0" y="203868"/>
                </a:moveTo>
                <a:lnTo>
                  <a:pt x="11945" y="427414"/>
                </a:lnTo>
                <a:cubicBezTo>
                  <a:pt x="134227" y="1577204"/>
                  <a:pt x="1155955" y="2686070"/>
                  <a:pt x="2547169" y="3109399"/>
                </a:cubicBezTo>
                <a:lnTo>
                  <a:pt x="2707755" y="3109399"/>
                </a:lnTo>
                <a:lnTo>
                  <a:pt x="2707755" y="3109571"/>
                </a:lnTo>
                <a:lnTo>
                  <a:pt x="0" y="3109571"/>
                </a:lnTo>
                <a:close/>
                <a:moveTo>
                  <a:pt x="12199992" y="0"/>
                </a:moveTo>
                <a:lnTo>
                  <a:pt x="12200354" y="0"/>
                </a:lnTo>
                <a:lnTo>
                  <a:pt x="12200354" y="3109571"/>
                </a:lnTo>
                <a:lnTo>
                  <a:pt x="9492599" y="3109571"/>
                </a:lnTo>
                <a:lnTo>
                  <a:pt x="9492599" y="3109399"/>
                </a:lnTo>
                <a:lnTo>
                  <a:pt x="12199992" y="3109399"/>
                </a:lnTo>
                <a:cubicBezTo>
                  <a:pt x="11894797" y="3067888"/>
                  <a:pt x="11363064" y="2835363"/>
                  <a:pt x="10882585" y="2689921"/>
                </a:cubicBezTo>
                <a:cubicBezTo>
                  <a:pt x="10337759" y="2524687"/>
                  <a:pt x="10216776" y="2633084"/>
                  <a:pt x="9954919" y="2853835"/>
                </a:cubicBezTo>
                <a:cubicBezTo>
                  <a:pt x="10012263" y="2785427"/>
                  <a:pt x="10640823" y="2173819"/>
                  <a:pt x="10955864" y="2008077"/>
                </a:cubicBezTo>
                <a:cubicBezTo>
                  <a:pt x="11572550" y="1683293"/>
                  <a:pt x="12159598" y="1961999"/>
                  <a:pt x="12199992" y="1975802"/>
                </a:cubicBezTo>
                <a:close/>
              </a:path>
            </a:pathLst>
          </a:custGeom>
          <a:gradFill>
            <a:gsLst>
              <a:gs pos="82000">
                <a:schemeClr val="accent1"/>
              </a:gs>
              <a:gs pos="0">
                <a:schemeClr val="accent2"/>
              </a:gs>
            </a:gsLst>
            <a:lin ang="16200000" scaled="1"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E23A13F-B496-456B-9B43-0A8D71E8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8490" y="2060848"/>
            <a:ext cx="2804901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lang="en-US" sz="5400" b="0" spc="0" baseline="0" dirty="0" smtClean="0">
                <a:latin typeface="+mj-lt"/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2B8BD1-AB9B-4185-BA75-587A559ADF7D}"/>
              </a:ext>
            </a:extLst>
          </p:cNvPr>
          <p:cNvCxnSpPr>
            <a:cxnSpLocks/>
          </p:cNvCxnSpPr>
          <p:nvPr userDrawn="1"/>
        </p:nvCxnSpPr>
        <p:spPr>
          <a:xfrm>
            <a:off x="5903913" y="1541934"/>
            <a:ext cx="0" cy="396044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64075AFB-4FF9-45DE-BEAC-0FE3DB14E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7998" y="4209712"/>
            <a:ext cx="2102991" cy="1292662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C9908F-0A19-72D8-626A-E82031273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gradFill>
          <a:gsLst>
            <a:gs pos="82000">
              <a:schemeClr val="accent1"/>
            </a:gs>
            <a:gs pos="0">
              <a:schemeClr val="accent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79576" y="1705365"/>
            <a:ext cx="628377" cy="6093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4400" spc="0" baseline="0" dirty="0">
                <a:solidFill>
                  <a:schemeClr val="bg1">
                    <a:alpha val="54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##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295736" y="2407097"/>
            <a:ext cx="7632171" cy="10305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66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Divider slide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7765-DB77-44E5-9420-D56F1378074A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F7CB7E-3B6B-4D2E-86A1-641B43A0A14C}"/>
              </a:ext>
            </a:extLst>
          </p:cNvPr>
          <p:cNvGrpSpPr/>
          <p:nvPr userDrawn="1"/>
        </p:nvGrpSpPr>
        <p:grpSpPr>
          <a:xfrm>
            <a:off x="0" y="3748429"/>
            <a:ext cx="12200354" cy="3109571"/>
            <a:chOff x="0" y="2420888"/>
            <a:chExt cx="17408940" cy="4437112"/>
          </a:xfrm>
          <a:solidFill>
            <a:srgbClr val="FFFFFF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E0EACE-D844-41BE-AB6F-4F5D1E92ADE8}"/>
                </a:ext>
              </a:extLst>
            </p:cNvPr>
            <p:cNvSpPr/>
            <p:nvPr/>
          </p:nvSpPr>
          <p:spPr>
            <a:xfrm>
              <a:off x="13545188" y="2420888"/>
              <a:ext cx="3863752" cy="4437112"/>
            </a:xfrm>
            <a:custGeom>
              <a:avLst/>
              <a:gdLst>
                <a:gd name="connsiteX0" fmla="*/ 3863236 w 3863752"/>
                <a:gd name="connsiteY0" fmla="*/ 0 h 4437112"/>
                <a:gd name="connsiteX1" fmla="*/ 3863752 w 3863752"/>
                <a:gd name="connsiteY1" fmla="*/ 0 h 4437112"/>
                <a:gd name="connsiteX2" fmla="*/ 3863752 w 3863752"/>
                <a:gd name="connsiteY2" fmla="*/ 4437112 h 4437112"/>
                <a:gd name="connsiteX3" fmla="*/ 0 w 3863752"/>
                <a:gd name="connsiteY3" fmla="*/ 4437112 h 4437112"/>
                <a:gd name="connsiteX4" fmla="*/ 0 w 3863752"/>
                <a:gd name="connsiteY4" fmla="*/ 4436866 h 4437112"/>
                <a:gd name="connsiteX5" fmla="*/ 3863236 w 3863752"/>
                <a:gd name="connsiteY5" fmla="*/ 4436866 h 4437112"/>
                <a:gd name="connsiteX6" fmla="*/ 1983400 w 3863752"/>
                <a:gd name="connsiteY6" fmla="*/ 3838304 h 4437112"/>
                <a:gd name="connsiteX7" fmla="*/ 659694 w 3863752"/>
                <a:gd name="connsiteY7" fmla="*/ 4072197 h 4437112"/>
                <a:gd name="connsiteX8" fmla="*/ 2087964 w 3863752"/>
                <a:gd name="connsiteY8" fmla="*/ 2865367 h 4437112"/>
                <a:gd name="connsiteX9" fmla="*/ 3863236 w 3863752"/>
                <a:gd name="connsiteY9" fmla="*/ 2819313 h 4437112"/>
                <a:gd name="connsiteX10" fmla="*/ 3863236 w 3863752"/>
                <a:gd name="connsiteY10" fmla="*/ 0 h 4437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63752" h="4437112">
                  <a:moveTo>
                    <a:pt x="3863236" y="0"/>
                  </a:moveTo>
                  <a:lnTo>
                    <a:pt x="3863752" y="0"/>
                  </a:lnTo>
                  <a:lnTo>
                    <a:pt x="3863752" y="4437112"/>
                  </a:lnTo>
                  <a:lnTo>
                    <a:pt x="0" y="4437112"/>
                  </a:lnTo>
                  <a:lnTo>
                    <a:pt x="0" y="4436866"/>
                  </a:lnTo>
                  <a:lnTo>
                    <a:pt x="3863236" y="4436866"/>
                  </a:lnTo>
                  <a:cubicBezTo>
                    <a:pt x="3427746" y="4377634"/>
                    <a:pt x="2669005" y="4045839"/>
                    <a:pt x="1983400" y="3838304"/>
                  </a:cubicBezTo>
                  <a:cubicBezTo>
                    <a:pt x="1205976" y="3602529"/>
                    <a:pt x="1033343" y="3757202"/>
                    <a:pt x="659694" y="4072197"/>
                  </a:cubicBezTo>
                  <a:cubicBezTo>
                    <a:pt x="741520" y="3974584"/>
                    <a:pt x="1638425" y="3101867"/>
                    <a:pt x="2087964" y="2865367"/>
                  </a:cubicBezTo>
                  <a:cubicBezTo>
                    <a:pt x="2967925" y="2401926"/>
                    <a:pt x="3805596" y="2799617"/>
                    <a:pt x="3863236" y="2819313"/>
                  </a:cubicBezTo>
                  <a:lnTo>
                    <a:pt x="3863236" y="0"/>
                  </a:lnTo>
                  <a:close/>
                </a:path>
              </a:pathLst>
            </a:custGeom>
            <a:grpFill/>
            <a:ln w="1448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26C57F-8D87-4F49-981A-49DD5DA143F0}"/>
                </a:ext>
              </a:extLst>
            </p:cNvPr>
            <p:cNvSpPr/>
            <p:nvPr/>
          </p:nvSpPr>
          <p:spPr>
            <a:xfrm>
              <a:off x="0" y="2711792"/>
              <a:ext cx="3863752" cy="4146208"/>
            </a:xfrm>
            <a:custGeom>
              <a:avLst/>
              <a:gdLst>
                <a:gd name="connsiteX0" fmla="*/ 0 w 3863752"/>
                <a:gd name="connsiteY0" fmla="*/ 0 h 4146208"/>
                <a:gd name="connsiteX1" fmla="*/ 17045 w 3863752"/>
                <a:gd name="connsiteY1" fmla="*/ 318982 h 4146208"/>
                <a:gd name="connsiteX2" fmla="*/ 3634608 w 3863752"/>
                <a:gd name="connsiteY2" fmla="*/ 4145962 h 4146208"/>
                <a:gd name="connsiteX3" fmla="*/ 3863752 w 3863752"/>
                <a:gd name="connsiteY3" fmla="*/ 4145962 h 4146208"/>
                <a:gd name="connsiteX4" fmla="*/ 3863752 w 3863752"/>
                <a:gd name="connsiteY4" fmla="*/ 4146208 h 4146208"/>
                <a:gd name="connsiteX5" fmla="*/ 0 w 3863752"/>
                <a:gd name="connsiteY5" fmla="*/ 4146208 h 414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3752" h="4146208">
                  <a:moveTo>
                    <a:pt x="0" y="0"/>
                  </a:moveTo>
                  <a:lnTo>
                    <a:pt x="17045" y="318982"/>
                  </a:lnTo>
                  <a:cubicBezTo>
                    <a:pt x="191531" y="1959641"/>
                    <a:pt x="1649456" y="3541906"/>
                    <a:pt x="3634608" y="4145962"/>
                  </a:cubicBezTo>
                  <a:lnTo>
                    <a:pt x="3863752" y="4145962"/>
                  </a:lnTo>
                  <a:lnTo>
                    <a:pt x="3863752" y="4146208"/>
                  </a:lnTo>
                  <a:lnTo>
                    <a:pt x="0" y="41462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4A434C0-E4FD-1B3E-2128-9DA333B45C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6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3CC0AC9-AFD2-411F-B1BC-50BB961832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50000">
                <a:schemeClr val="tx1">
                  <a:alpha val="0"/>
                </a:schemeClr>
              </a:gs>
            </a:gsLst>
            <a:lin ang="1800000" scaled="0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94CA15D-2F52-4803-BDAE-1E7449D1A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7448" y="1557338"/>
            <a:ext cx="512961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260FF8B9-2D7B-497E-87E0-AFAC01227A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27448" y="2132260"/>
            <a:ext cx="2952427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80000"/>
              </a:lnSpc>
              <a:defRPr lang="en-US" sz="54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9E4A743E-85AA-4861-BE9B-D0A887D851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7448" y="3760012"/>
            <a:ext cx="2952427" cy="861774"/>
          </a:xfrm>
          <a:noFill/>
        </p:spPr>
        <p:txBody>
          <a:bodyPr wrap="square" lIns="0" tIns="0" rIns="0" bIns="0" rtlCol="0" anchor="t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>
                <a:solidFill>
                  <a:schemeClr val="bg1"/>
                </a:solidFill>
                <a:latin typeface="+mn-lt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9577138" cy="4063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448768"/>
            <a:ext cx="9577138" cy="46452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610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5329E0A-327E-4475-ACC4-637C24D9D6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96221FCF-FD80-4F6D-8DA9-9317EBC3B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A4F1765-68C5-44D1-A98C-B4F4A28FB0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9D46B37-73CD-4FCA-A759-8E2A51429F98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0" y="2009931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21162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26" y="942975"/>
            <a:ext cx="3384550" cy="324008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937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3412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2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51994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39571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104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3CF38C6-1EBE-4ED1-8E7F-383C6D45168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9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90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165411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2816920"/>
            <a:ext cx="3384550" cy="30565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5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9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EC532FC-7828-49E7-B6EF-06CAF53DDA64}"/>
              </a:ext>
            </a:extLst>
          </p:cNvPr>
          <p:cNvSpPr/>
          <p:nvPr userDrawn="1"/>
        </p:nvSpPr>
        <p:spPr>
          <a:xfrm>
            <a:off x="8102601" y="0"/>
            <a:ext cx="4079875" cy="6858000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302058" y="156527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6" cy="4690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70485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41960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302058" y="278129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302058" y="399730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302058" y="521332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D43D24-DED4-FCB2-C7FB-44ABCBEE6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797925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797925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797925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797925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301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EC2D33F-D887-4527-98FE-88AEA004A9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79927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564D6273-13C3-41E3-9854-6BA8DC870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7139" cy="4690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0130E7F-2696-4D7D-8351-3A820B0259D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22DC31-C022-4D35-A4CA-01E2EE12CEB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95326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6319767D-07B2-4A1E-BE78-9D7F3E8A2DF0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86675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26657DA0-8703-4499-B474-1559693405B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384600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</p:spTree>
    <p:extLst>
      <p:ext uri="{BB962C8B-B14F-4D97-AF65-F5344CB8AC3E}">
        <p14:creationId xmlns:p14="http://schemas.microsoft.com/office/powerpoint/2010/main" val="302488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77EF712-8DED-4A52-BD51-103375D11B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4800" y="2030400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EE4083B0-5F51-4F95-BD7A-3B4222E8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C9CFA-71EA-43AD-BDD4-7FDB2FDF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82B9C09-CED4-448F-920B-B0EA81FCD18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4800" y="3918534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073AADBC-DF68-45FD-854E-35806C6DE0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AFEEB2E7-44F2-48F2-BBFC-DF704AD7B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3FFB07-730C-4029-A1B2-3F55F310FE8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4FAE2FD6-F041-4D7F-8F92-2AFDD991FE5D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27539" y="2030400"/>
            <a:ext cx="6347786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48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C6A8FED-FA65-4CA1-BCAC-A45FB3462E6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907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D65DFCA3-BD94-4763-9B1A-CD6AE2B1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9576000" cy="4690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0E119BA-A47F-4967-9FEC-495C9F92A7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75AE0700-627C-416D-BA13-5D2F3C8E556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5325" y="2030400"/>
            <a:ext cx="5842800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38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lang="en-AU" dirty="0"/>
            </a:lvl1pPr>
          </a:lstStyle>
          <a:p>
            <a:pPr lvl="0"/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90B2496-E1DB-4D4C-859D-CC14426C69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1052514"/>
            <a:ext cx="3384548" cy="5263410"/>
          </a:xfrm>
          <a:prstGeom prst="rect">
            <a:avLst/>
          </a:prstGeom>
          <a:solidFill>
            <a:schemeClr val="bg1"/>
          </a:solidFill>
        </p:spPr>
        <p:txBody>
          <a:bodyPr lIns="180000" tIns="1260000" rIns="180000" bIns="180000" anchor="t">
            <a:normAutofit/>
          </a:bodyPr>
          <a:lstStyle>
            <a:lvl1pPr marL="0" indent="0" algn="l">
              <a:buClr>
                <a:schemeClr val="bg1"/>
              </a:buClr>
              <a:buFont typeface="Arial" panose="020B0604020202020204" pitchFamily="34" charset="0"/>
              <a:buNone/>
              <a:defRPr lang="en-A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menu. Change shape width/height as preferred]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424" y="1340768"/>
            <a:ext cx="2592288" cy="87647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09B167-7472-4F88-89E8-DAE2E048396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F249FB-FC55-456D-9BD4-C0130FDA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9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95327" y="2001916"/>
            <a:ext cx="10801349" cy="3947404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95327" y="5949320"/>
            <a:ext cx="10801348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28C3BB-E5DD-47D4-B3C1-7A89BC1F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E9E9E33-B596-4A72-ACBD-699AC270638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027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E278AFA-A93C-4FAD-AA41-A6E61D8974A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-4"/>
            <a:ext cx="7810872" cy="685800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6D18E-7831-44BE-9F27-A68CFE3B02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A412D2-A7E4-4007-BC7B-41EB3D0B60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F8ED989-2306-4E52-9B82-69A7EC19398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3979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400"/>
            </a:lvl1pPr>
            <a:lvl2pPr>
              <a:lnSpc>
                <a:spcPct val="100000"/>
              </a:lnSpc>
              <a:spcAft>
                <a:spcPts val="1200"/>
              </a:spcAft>
              <a:defRPr sz="1400"/>
            </a:lvl2pPr>
            <a:lvl3pPr>
              <a:lnSpc>
                <a:spcPct val="100000"/>
              </a:lnSpc>
              <a:spcAft>
                <a:spcPts val="1200"/>
              </a:spcAft>
              <a:defRPr sz="1400"/>
            </a:lvl3pPr>
            <a:lvl4pPr>
              <a:lnSpc>
                <a:spcPct val="100000"/>
              </a:lnSpc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Aft>
                <a:spcPts val="1200"/>
              </a:spcAft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ABC919D-2CAB-42EE-BCCF-5B744E8E7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4130282-F858-425B-AE74-20EE73DF98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805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EC9E-80A6-4F00-A6C2-0211431E31A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DD8DE5C-8A89-400F-8CA9-77C24E2B49B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91945" y="-4"/>
            <a:ext cx="6586315" cy="6858001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63467-2027-4D99-8858-F83AC839052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E6B1A59-9939-4457-A48E-2E14017A35C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4500000" cy="3871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AU" sz="140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GB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GB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GB"/>
              <a:t>Fifth level</a:t>
            </a:r>
            <a:endParaRPr lang="en-AU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3F9AAC9-FF46-40B0-8882-C71A56BB27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00000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4EB2009-A38E-42C4-8D4A-72D274A5A4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0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84967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5E7F27E-BB6C-4782-8015-F05E2C5C1E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D3E74F8-FA5A-4025-A701-02F364DB2A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25074" y="-3"/>
            <a:ext cx="4066927" cy="6858001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A16CAE-14B9-4A43-877B-E46EF044168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5BFC0C-3AAF-4677-B586-CD5CBF731F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DE1070F-73A4-4C19-B1CF-FB38DA047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FBA097BA-93E9-4864-A12D-10803474794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7096124" cy="4064400"/>
          </a:xfrm>
          <a:custGeom>
            <a:avLst/>
            <a:gdLst>
              <a:gd name="connsiteX0" fmla="*/ 0 w 7096124"/>
              <a:gd name="connsiteY0" fmla="*/ 0 h 3240087"/>
              <a:gd name="connsiteX1" fmla="*/ 7096124 w 7096124"/>
              <a:gd name="connsiteY1" fmla="*/ 0 h 3240087"/>
              <a:gd name="connsiteX2" fmla="*/ 7096124 w 7096124"/>
              <a:gd name="connsiteY2" fmla="*/ 3240087 h 3240087"/>
              <a:gd name="connsiteX3" fmla="*/ 0 w 709612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6124" h="3240087">
                <a:moveTo>
                  <a:pt x="0" y="0"/>
                </a:moveTo>
                <a:lnTo>
                  <a:pt x="7096124" y="0"/>
                </a:lnTo>
                <a:lnTo>
                  <a:pt x="709612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US" sz="1400" dirty="0" smtClean="0"/>
            </a:lvl4pPr>
            <a:lvl5pPr>
              <a:defRPr lang="en-AU" sz="1400" dirty="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GB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GB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GB"/>
              <a:t>Fifth level</a:t>
            </a:r>
            <a:endParaRPr lang="en-AU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6C5E2F5-0061-4600-A426-EB0BCA3B0D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4313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795A59A-32A0-4E4F-ADE5-B079E4BC191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0"/>
            <a:ext cx="7810872" cy="687251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22D7A-8171-44C9-AFA6-24E34B78763E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A71569F-BB25-4674-BADB-F4162EFAC7F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4206912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spcAft>
                <a:spcPts val="1200"/>
              </a:spcAft>
              <a:defRPr sz="1400">
                <a:solidFill>
                  <a:schemeClr val="bg1"/>
                </a:solidFill>
              </a:defRPr>
            </a:lvl1pPr>
            <a:lvl2pPr>
              <a:spcAft>
                <a:spcPts val="12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1200"/>
              </a:spcAft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spcAft>
                <a:spcPts val="1200"/>
              </a:spcAft>
              <a:defRPr sz="1400">
                <a:solidFill>
                  <a:schemeClr val="bg1"/>
                </a:solidFill>
              </a:defRPr>
            </a:lvl4pPr>
            <a:lvl5pPr>
              <a:spcAft>
                <a:spcPts val="1200"/>
              </a:spcAft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A46BE02-73A4-478B-91B5-60E3126AD0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1B3E6F15-268B-42EB-A1DC-9E9E18BCA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426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4E0D937-BE88-4584-B716-79FDE92B735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05685" y="0"/>
            <a:ext cx="6586315" cy="6887025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B152F0-B857-4837-AD26-E55058B68A12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EFD1972-8EA7-4ECA-B4BE-8591D45B72CC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4536578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GB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GB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GB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GB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GB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086D5B7-49D4-45BF-9DA6-AAB93DAE7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3657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C6C5F7B-FB99-4491-8B47-FF6117F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3657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33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40DF0C2-28B5-445A-B99A-61CA30EFB4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B5D6B1C-6262-4AF0-90EE-88B7D718512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5074" y="1"/>
            <a:ext cx="4066927" cy="6887026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EE3ED-5C13-4151-AFC4-04F14BD9ECA3}"/>
              </a:ext>
            </a:extLst>
          </p:cNvPr>
          <p:cNvSpPr txBox="1"/>
          <p:nvPr userDrawn="1"/>
        </p:nvSpPr>
        <p:spPr>
          <a:xfrm>
            <a:off x="1" y="-622612"/>
            <a:ext cx="7632171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Clicking along the edge of purple container and change the shape fill colour.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F12626A-8317-4616-9DEA-523330E3B61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7096124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GB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GB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GB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GB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GB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AC21342-65B5-43EB-A61C-CC10FC7BD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09B74B0F-B518-4927-A74F-313B2EC261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7774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CA045B-79DD-4F1E-A5D5-56CC7F67455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08568" y="6526800"/>
            <a:ext cx="288032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7E880590-31EE-469A-A906-EE62AC10657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5" y="2030400"/>
            <a:ext cx="3384000" cy="4206912"/>
          </a:xfrm>
          <a:custGeom>
            <a:avLst/>
            <a:gdLst>
              <a:gd name="connsiteX0" fmla="*/ 0 w 3384000"/>
              <a:gd name="connsiteY0" fmla="*/ 0 h 3240087"/>
              <a:gd name="connsiteX1" fmla="*/ 3384000 w 3384000"/>
              <a:gd name="connsiteY1" fmla="*/ 0 h 3240087"/>
              <a:gd name="connsiteX2" fmla="*/ 3384000 w 3384000"/>
              <a:gd name="connsiteY2" fmla="*/ 3240087 h 3240087"/>
              <a:gd name="connsiteX3" fmla="*/ 0 w 3384000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3240087">
                <a:moveTo>
                  <a:pt x="0" y="0"/>
                </a:moveTo>
                <a:lnTo>
                  <a:pt x="3384000" y="0"/>
                </a:lnTo>
                <a:lnTo>
                  <a:pt x="3384000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88CFC63-6AC8-47EA-B1E4-85A2108A3B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63200"/>
            <a:ext cx="3384550" cy="469056"/>
          </a:xfrm>
        </p:spPr>
        <p:txBody>
          <a:bodyPr/>
          <a:lstStyle/>
          <a:p>
            <a:r>
              <a:rPr lang="en-US" dirty="0"/>
              <a:t>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384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97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40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07050" y="3182602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400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4335FC-BD53-4794-8DA5-8FFBAE1F28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0705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82AF12-58DE-43D7-9E95-F90A1203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945792A-E478-4C06-AA1A-F66F0D1360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25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479752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2A4C4A-3642-4CE3-8FB6-AFE5A9CA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955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012495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012495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012495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012495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67645D-435A-4DA4-9CBA-77E7F4B5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89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5200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E0658-31AB-4AA9-B241-6C41D88C9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102FA23-4F6E-4CE7-83FA-05BAC2F85D5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324" y="2163010"/>
            <a:ext cx="5197808" cy="3701390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77735E5-7E07-439E-A173-ACABCE0324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7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02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4587"/>
          </a:xfrm>
          <a:prstGeom prst="rect">
            <a:avLst/>
          </a:prstGeom>
          <a:solidFill>
            <a:srgbClr val="962A8B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AA7FD-BD90-42A7-ADCE-A909D39619C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DB814-0723-41E1-87CA-20F94C28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F16ADB-A971-4A3C-96F9-2639482B11C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4" y="2163600"/>
            <a:ext cx="5197808" cy="37001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475E2FC-2D3C-4D15-BB0D-D4B480A1F9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0544620-FB92-442D-8D66-3B8ACA0939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98992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335"/>
            <a:ext cx="5112000" cy="4885200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7467BC2-B2BE-4205-B9B5-DA5CC1F6A00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3" y="2163599"/>
            <a:ext cx="5197808" cy="3729935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1D1FD25-98B7-4075-B181-7E91AA14B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C596C78-2D0A-467F-BBBA-B45A6E9309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3" y="1551600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5759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2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286"/>
            <a:ext cx="5112000" cy="4885200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6ED75D5-4A4F-4C1A-87D9-0AF5841C602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251" y="2163599"/>
            <a:ext cx="5197808" cy="37298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0B64CD2-00BE-477A-85FC-603E001D59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06C11C8-809D-4D04-925A-33C6DB34BE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251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5028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126" y="2040365"/>
            <a:ext cx="3384548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A12390-A044-4D48-96A4-00A2D51D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2030400"/>
            <a:ext cx="3384548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7254" y="2033057"/>
            <a:ext cx="3384548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4749D6D-DBC4-4697-B59F-A3C7324B68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282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C1A5F930-F83B-4616-AC17-D7231CE874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85206" y="4361190"/>
            <a:ext cx="5198533" cy="13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A696586-6988-4D6B-BE2D-2C0EDF44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94799" y="2030400"/>
            <a:ext cx="5198532" cy="1368226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76E37327-CD28-4B4C-A327-FE60BBD71F6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6375" y="3558494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9CC4669-D5CF-188B-5A79-8AB02D9BAEF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85206" y="2030400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118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40928" y="2426193"/>
            <a:ext cx="5219998" cy="12646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dirty="0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240928" y="4338433"/>
            <a:ext cx="5219996" cy="13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0928" y="4059949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2F6810-4203-426A-BA3F-12E853FD972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4800" y="2030400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608E6E7-0CC5-4C1B-8095-7EA4A3FE80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4799" y="4050433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E219F9-19D4-45A2-9D79-6847ED38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40928" y="2028166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88F298BC-8471-411E-B254-EFEEFEB67A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15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l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2634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0096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0096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0096" y="4295030"/>
            <a:ext cx="950400" cy="108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337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9616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7078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7078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7078" y="4295030"/>
            <a:ext cx="950400" cy="10800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9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cons +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BA98747-0DB5-4B1B-B49E-00EE7FBBF5D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-4514" y="1306470"/>
            <a:ext cx="3753813" cy="5546544"/>
          </a:xfrm>
          <a:custGeom>
            <a:avLst/>
            <a:gdLst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0 w 3753813"/>
              <a:gd name="connsiteY4" fmla="*/ 6308592 h 6308700"/>
              <a:gd name="connsiteX5" fmla="*/ 1216808 w 3753813"/>
              <a:gd name="connsiteY5" fmla="*/ 6308592 h 6308700"/>
              <a:gd name="connsiteX6" fmla="*/ 1216808 w 3753813"/>
              <a:gd name="connsiteY6" fmla="*/ 6308513 h 6308700"/>
              <a:gd name="connsiteX7" fmla="*/ 1142621 w 3753813"/>
              <a:gd name="connsiteY7" fmla="*/ 6308513 h 6308700"/>
              <a:gd name="connsiteX8" fmla="*/ 11598 w 3753813"/>
              <a:gd name="connsiteY8" fmla="*/ 5267228 h 6308700"/>
              <a:gd name="connsiteX9" fmla="*/ 0 w 3753813"/>
              <a:gd name="connsiteY9" fmla="*/ 5221165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1216808 w 3753813"/>
              <a:gd name="connsiteY4" fmla="*/ 6308592 h 6308700"/>
              <a:gd name="connsiteX5" fmla="*/ 1216808 w 3753813"/>
              <a:gd name="connsiteY5" fmla="*/ 6308513 h 6308700"/>
              <a:gd name="connsiteX6" fmla="*/ 1142621 w 3753813"/>
              <a:gd name="connsiteY6" fmla="*/ 6308513 h 6308700"/>
              <a:gd name="connsiteX7" fmla="*/ 11598 w 3753813"/>
              <a:gd name="connsiteY7" fmla="*/ 5267228 h 6308700"/>
              <a:gd name="connsiteX8" fmla="*/ 0 w 3753813"/>
              <a:gd name="connsiteY8" fmla="*/ 5221165 h 6308700"/>
              <a:gd name="connsiteX9" fmla="*/ 0 w 3753813"/>
              <a:gd name="connsiteY9" fmla="*/ 0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1216808 w 3753813"/>
              <a:gd name="connsiteY3" fmla="*/ 6308592 h 6308700"/>
              <a:gd name="connsiteX4" fmla="*/ 1216808 w 3753813"/>
              <a:gd name="connsiteY4" fmla="*/ 6308513 h 6308700"/>
              <a:gd name="connsiteX5" fmla="*/ 1142621 w 3753813"/>
              <a:gd name="connsiteY5" fmla="*/ 6308513 h 6308700"/>
              <a:gd name="connsiteX6" fmla="*/ 11598 w 3753813"/>
              <a:gd name="connsiteY6" fmla="*/ 5267228 h 6308700"/>
              <a:gd name="connsiteX7" fmla="*/ 0 w 3753813"/>
              <a:gd name="connsiteY7" fmla="*/ 5221165 h 6308700"/>
              <a:gd name="connsiteX8" fmla="*/ 0 w 3753813"/>
              <a:gd name="connsiteY8" fmla="*/ 0 h 630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53813" h="6308700">
                <a:moveTo>
                  <a:pt x="0" y="0"/>
                </a:moveTo>
                <a:lnTo>
                  <a:pt x="3753813" y="0"/>
                </a:lnTo>
                <a:lnTo>
                  <a:pt x="3753813" y="6308700"/>
                </a:lnTo>
                <a:lnTo>
                  <a:pt x="1216808" y="6308592"/>
                </a:lnTo>
                <a:lnTo>
                  <a:pt x="1216808" y="6308513"/>
                </a:lnTo>
                <a:lnTo>
                  <a:pt x="1142621" y="6308513"/>
                </a:lnTo>
                <a:cubicBezTo>
                  <a:pt x="580256" y="6137392"/>
                  <a:pt x="148576" y="5723798"/>
                  <a:pt x="11598" y="5267228"/>
                </a:cubicBezTo>
                <a:lnTo>
                  <a:pt x="0" y="52211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74646-5116-45C7-99CA-F3BEE3092EC8}"/>
              </a:ext>
            </a:extLst>
          </p:cNvPr>
          <p:cNvSpPr/>
          <p:nvPr userDrawn="1"/>
        </p:nvSpPr>
        <p:spPr>
          <a:xfrm>
            <a:off x="3801968" y="1311456"/>
            <a:ext cx="3491358" cy="5546544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0D68F-568E-4F07-BF1B-D56E5E1616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7690930-F7A3-403F-8CD6-64AE7616C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1600" y="1307416"/>
            <a:ext cx="3945000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10EEB8-1B8C-4828-AF29-90D9289687B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559562" y="1916832"/>
            <a:ext cx="3937038" cy="42896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C1FFA05-383E-4EA0-8A7A-14406633FDAE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511824" y="1993680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EF7C04B6-0E34-422C-AFA2-C2258851736A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511824" y="3470058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626B73AE-3585-4450-A61F-2665857EB816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511824" y="4946435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CEB3261A-B820-4F34-AA9C-ECB6FADB734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007691" y="1993680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9E0DE186-927A-456D-BA02-3331C27470FD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007691" y="3470058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EC74DFA6-B8C2-4882-ADA6-BDDC15DB7D9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4007691" y="4946435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270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4381A-1796-48D3-99D8-9D18726C1C17}"/>
              </a:ext>
            </a:extLst>
          </p:cNvPr>
          <p:cNvSpPr/>
          <p:nvPr userDrawn="1"/>
        </p:nvSpPr>
        <p:spPr>
          <a:xfrm flipV="1">
            <a:off x="-7364" y="2030400"/>
            <a:ext cx="12199364" cy="441176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10801350" cy="38953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512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9575999" cy="3671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47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9736" y="2778974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21">
            <a:extLst>
              <a:ext uri="{FF2B5EF4-FFF2-40B4-BE49-F238E27FC236}">
                <a16:creationId xmlns:a16="http://schemas.microsoft.com/office/drawing/2014/main" id="{B62BB5B9-4568-4309-93B5-668133F368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71624" y="908720"/>
            <a:ext cx="2964660" cy="5384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660400" y="908719"/>
            <a:ext cx="2985168" cy="5384801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908720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41" y="1198800"/>
            <a:ext cx="2184251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3113" y="5402945"/>
            <a:ext cx="2160588" cy="85921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719736" y="90872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096000" y="451237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2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0385095-2391-426D-A969-133DEBAAD7D2}"/>
              </a:ext>
            </a:extLst>
          </p:cNvPr>
          <p:cNvSpPr/>
          <p:nvPr userDrawn="1"/>
        </p:nvSpPr>
        <p:spPr>
          <a:xfrm>
            <a:off x="-15679" y="246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chemeClr val="accent1"/>
              </a:gs>
              <a:gs pos="100000">
                <a:schemeClr val="accent2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CEFEC494-73C0-494E-8DE9-7C8FE7AA87F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EBA3D052-5560-4BE7-B48A-7CCBABE3CB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B3550CE3-EB5D-48BF-BD90-C402F0393B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78C0BDD-99F2-43E0-A486-A50E5712E4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751850F8-1596-48EC-9EF7-59E146FE07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18B49F0-234B-4974-77BB-C696A010C8EB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9D9129-7B58-D3FD-2A63-67A7AE280B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305954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51E340C-E489-401B-B6F3-AAF3490020F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5680" y="245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9CF0F21-1AF8-4E7D-8464-6403D7D097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85C39C7-FD74-4D69-9F1C-82E7F410C9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463355A-3DD0-4858-BE53-6F6D361EF5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40339E3-2BC2-4DF1-B88F-7DF041C1FD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AF70255-159E-4A2A-9499-827B8744C6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49CA893B-E6B7-B8EF-95BC-43DF61BAD720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4281" y="5367438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DA1BC6-57D4-AB05-9DAA-6A724E33FF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E7DBE68-C9B2-5E04-9759-B580B9B9B6F9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59201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608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84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5326" y="6526800"/>
            <a:ext cx="3360109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8" y="6526800"/>
            <a:ext cx="288032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FB2558-6228-01A8-6AA9-F913EDFCDE95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5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1"/>
            <a:ext cx="1512000" cy="39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816" r:id="rId3"/>
    <p:sldLayoutId id="2147483817" r:id="rId4"/>
    <p:sldLayoutId id="2147483799" r:id="rId5"/>
    <p:sldLayoutId id="2147483800" r:id="rId6"/>
    <p:sldLayoutId id="2147483792" r:id="rId7"/>
    <p:sldLayoutId id="2147483802" r:id="rId8"/>
    <p:sldLayoutId id="2147483775" r:id="rId9"/>
    <p:sldLayoutId id="2147483650" r:id="rId10"/>
    <p:sldLayoutId id="2147483815" r:id="rId11"/>
    <p:sldLayoutId id="2147483652" r:id="rId12"/>
    <p:sldLayoutId id="2147483778" r:id="rId13"/>
    <p:sldLayoutId id="2147483804" r:id="rId14"/>
    <p:sldLayoutId id="2147483805" r:id="rId15"/>
    <p:sldLayoutId id="2147483803" r:id="rId16"/>
    <p:sldLayoutId id="2147483806" r:id="rId17"/>
    <p:sldLayoutId id="2147483779" r:id="rId18"/>
    <p:sldLayoutId id="2147483728" r:id="rId19"/>
    <p:sldLayoutId id="2147483656" r:id="rId20"/>
    <p:sldLayoutId id="2147483732" r:id="rId21"/>
    <p:sldLayoutId id="2147483793" r:id="rId22"/>
    <p:sldLayoutId id="2147483657" r:id="rId23"/>
    <p:sldLayoutId id="2147483765" r:id="rId24"/>
    <p:sldLayoutId id="2147483787" r:id="rId25"/>
    <p:sldLayoutId id="2147483788" r:id="rId26"/>
    <p:sldLayoutId id="2147483794" r:id="rId27"/>
    <p:sldLayoutId id="2147483795" r:id="rId28"/>
    <p:sldLayoutId id="2147483796" r:id="rId29"/>
    <p:sldLayoutId id="2147483791" r:id="rId30"/>
    <p:sldLayoutId id="2147483797" r:id="rId31"/>
    <p:sldLayoutId id="2147483790" r:id="rId32"/>
    <p:sldLayoutId id="2147483798" r:id="rId33"/>
    <p:sldLayoutId id="2147483768" r:id="rId34"/>
    <p:sldLayoutId id="2147483769" r:id="rId35"/>
    <p:sldLayoutId id="2147483770" r:id="rId36"/>
    <p:sldLayoutId id="2147483771" r:id="rId37"/>
    <p:sldLayoutId id="2147483789" r:id="rId38"/>
    <p:sldLayoutId id="2147483776" r:id="rId39"/>
    <p:sldLayoutId id="2147483777" r:id="rId40"/>
    <p:sldLayoutId id="2147483807" r:id="rId41"/>
    <p:sldLayoutId id="2147483808" r:id="rId42"/>
    <p:sldLayoutId id="2147483809" r:id="rId43"/>
    <p:sldLayoutId id="2147483810" r:id="rId44"/>
    <p:sldLayoutId id="2147483814" r:id="rId45"/>
    <p:sldLayoutId id="2147483811" r:id="rId46"/>
    <p:sldLayoutId id="2147483780" r:id="rId47"/>
    <p:sldLayoutId id="2147483801" r:id="rId48"/>
    <p:sldLayoutId id="2147483813" r:id="rId49"/>
    <p:sldLayoutId id="2147483812" r:id="rId5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b="1" kern="1200" dirty="0">
          <a:solidFill>
            <a:schemeClr val="accent1"/>
          </a:solidFill>
          <a:latin typeface="+mn-lt"/>
          <a:ea typeface="+mn-ea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436" userDrawn="1">
          <p15:clr>
            <a:srgbClr val="F26B43"/>
          </p15:clr>
        </p15:guide>
        <p15:guide id="9" pos="3961" userDrawn="1">
          <p15:clr>
            <a:srgbClr val="F26B43"/>
          </p15:clr>
        </p15:guide>
        <p15:guide id="10" pos="3719" userDrawn="1">
          <p15:clr>
            <a:srgbClr val="F26B43"/>
          </p15:clr>
        </p15:guide>
        <p15:guide id="11" orient="horz" pos="4110" userDrawn="1">
          <p15:clr>
            <a:srgbClr val="F26B43"/>
          </p15:clr>
        </p15:guide>
        <p15:guide id="13" pos="7242" userDrawn="1">
          <p15:clr>
            <a:srgbClr val="F26B43"/>
          </p15:clr>
        </p15:guide>
        <p15:guide id="14" orient="horz" pos="981" userDrawn="1">
          <p15:clr>
            <a:srgbClr val="F26B43"/>
          </p15:clr>
        </p15:guide>
        <p15:guide id="15" pos="2772" userDrawn="1">
          <p15:clr>
            <a:srgbClr val="F26B43"/>
          </p15:clr>
        </p15:guide>
        <p15:guide id="16" pos="2570" userDrawn="1">
          <p15:clr>
            <a:srgbClr val="F26B43"/>
          </p15:clr>
        </p15:guide>
        <p15:guide id="17" pos="5110" userDrawn="1">
          <p15:clr>
            <a:srgbClr val="F26B43"/>
          </p15:clr>
        </p15:guide>
        <p15:guide id="18" pos="4908" userDrawn="1">
          <p15:clr>
            <a:srgbClr val="F26B43"/>
          </p15:clr>
        </p15:guide>
        <p15:guide id="19" orient="horz" pos="1661" userDrawn="1">
          <p15:clr>
            <a:srgbClr val="F26B43"/>
          </p15:clr>
        </p15:guide>
        <p15:guide id="20" orient="horz" pos="19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97E81-2ED2-BEBC-EEDF-7C87EC5FC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736" y="5149386"/>
            <a:ext cx="5103577" cy="830997"/>
          </a:xfrm>
        </p:spPr>
        <p:txBody>
          <a:bodyPr/>
          <a:lstStyle/>
          <a:p>
            <a:r>
              <a:rPr lang="en-US" sz="3000" dirty="0"/>
              <a:t>Dr. Riddhi S. Gupta</a:t>
            </a:r>
            <a:br>
              <a:rPr lang="en-US" sz="3000" dirty="0"/>
            </a:br>
            <a:r>
              <a:rPr lang="en-US" sz="3000" dirty="0"/>
              <a:t>Senior Research Fellow, SMP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06B77-7EA2-C3CE-6299-6B0A023E6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95736" y="1556792"/>
            <a:ext cx="9560904" cy="3046988"/>
          </a:xfrm>
        </p:spPr>
        <p:txBody>
          <a:bodyPr/>
          <a:lstStyle/>
          <a:p>
            <a:r>
              <a:rPr lang="en-US" dirty="0"/>
              <a:t>Brief Tour of Quantum Computing</a:t>
            </a:r>
          </a:p>
        </p:txBody>
      </p:sp>
    </p:spTree>
    <p:extLst>
      <p:ext uri="{BB962C8B-B14F-4D97-AF65-F5344CB8AC3E}">
        <p14:creationId xmlns:p14="http://schemas.microsoft.com/office/powerpoint/2010/main" val="259360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E4644-30D0-B840-C7CC-C3936B74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F3E185-D83D-21A3-A39D-9F1CDB493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1897" y="1484784"/>
            <a:ext cx="5126071" cy="4500512"/>
          </a:xfrm>
        </p:spPr>
        <p:txBody>
          <a:bodyPr/>
          <a:lstStyle/>
          <a:p>
            <a:r>
              <a:rPr lang="en-AU" sz="1800" b="0" dirty="0"/>
              <a:t>Today</a:t>
            </a:r>
          </a:p>
          <a:p>
            <a:pPr marL="342900" indent="-342900">
              <a:buAutoNum type="arabicPeriod"/>
            </a:pPr>
            <a:r>
              <a:rPr lang="en-US" sz="1800" b="0" dirty="0"/>
              <a:t>High level overview of quantum computing</a:t>
            </a:r>
          </a:p>
          <a:p>
            <a:pPr marL="342900" indent="-342900">
              <a:buAutoNum type="arabicPeriod"/>
            </a:pPr>
            <a:r>
              <a:rPr lang="en-US" sz="1800" b="0" dirty="0"/>
              <a:t>Quantum ‘rules’ (words)</a:t>
            </a:r>
          </a:p>
          <a:p>
            <a:pPr marL="342900" indent="-342900">
              <a:buAutoNum type="arabicPeriod"/>
            </a:pPr>
            <a:r>
              <a:rPr lang="en-US" sz="1800" b="0" dirty="0"/>
              <a:t>Quantum  `rules’ (</a:t>
            </a:r>
            <a:r>
              <a:rPr lang="en-US" sz="1800" b="0" dirty="0" err="1"/>
              <a:t>maths</a:t>
            </a:r>
            <a:r>
              <a:rPr lang="en-US" sz="1800" b="0" dirty="0"/>
              <a:t>)</a:t>
            </a:r>
          </a:p>
          <a:p>
            <a:pPr marL="800100" lvl="3" indent="-342900"/>
            <a:r>
              <a:rPr lang="en-US" sz="1800" dirty="0"/>
              <a:t>Dirac notation</a:t>
            </a:r>
          </a:p>
          <a:p>
            <a:pPr marL="800100" lvl="3" indent="-342900"/>
            <a:r>
              <a:rPr lang="en-US" sz="1800" dirty="0"/>
              <a:t>Single Qubit </a:t>
            </a:r>
          </a:p>
          <a:p>
            <a:pPr marL="800100" lvl="3" indent="-342900"/>
            <a:r>
              <a:rPr lang="en-US" sz="1800" dirty="0"/>
              <a:t>Two Qubits</a:t>
            </a:r>
            <a:endParaRPr lang="en-US" sz="1800" b="0" dirty="0"/>
          </a:p>
          <a:p>
            <a:pPr marL="342900" indent="-342900">
              <a:buAutoNum type="arabicPeriod"/>
            </a:pPr>
            <a:r>
              <a:rPr lang="en-US" sz="1800" b="0" dirty="0"/>
              <a:t>What can we do with this?</a:t>
            </a:r>
          </a:p>
          <a:p>
            <a:pPr marL="800100" lvl="3" indent="-342900"/>
            <a:r>
              <a:rPr lang="en-US" sz="1800" dirty="0"/>
              <a:t>Entanglement (not really covered)</a:t>
            </a:r>
          </a:p>
          <a:p>
            <a:pPr marL="800100" lvl="3" indent="-342900"/>
            <a:r>
              <a:rPr lang="en-US" sz="1800" b="0" dirty="0"/>
              <a:t>Phase kickback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8418DC-813F-954F-6D08-852E33858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0D132E-26BB-AB34-1B36-91618DBAA2B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BAD07-C8E6-DEEA-D1DC-B16606CFF4A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</a:t>
            </a:fld>
            <a:endParaRPr lang="en-AU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AEF7AAE-D604-60C9-10AA-78EBDC070346}"/>
              </a:ext>
            </a:extLst>
          </p:cNvPr>
          <p:cNvSpPr txBox="1">
            <a:spLocks/>
          </p:cNvSpPr>
          <p:nvPr/>
        </p:nvSpPr>
        <p:spPr>
          <a:xfrm>
            <a:off x="6384034" y="1484784"/>
            <a:ext cx="5126071" cy="45005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800" b="0" dirty="0"/>
              <a:t>Tomorrow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1800" b="0" dirty="0"/>
              <a:t>Recap</a:t>
            </a:r>
            <a:endParaRPr lang="en-US" sz="1800" dirty="0"/>
          </a:p>
          <a:p>
            <a:pPr marL="800100" lvl="3" indent="-342900"/>
            <a:r>
              <a:rPr lang="en-US" sz="1800" dirty="0"/>
              <a:t>Audience questions </a:t>
            </a:r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ClrTx/>
              <a:buFont typeface="+mj-lt"/>
              <a:buAutoNum type="arabicPeriod"/>
            </a:pPr>
            <a:r>
              <a:rPr lang="en-US" sz="1800" b="0" dirty="0">
                <a:solidFill>
                  <a:srgbClr val="2B1D37"/>
                </a:solidFill>
              </a:rPr>
              <a:t>Phase kickback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AU" sz="1800" b="0" dirty="0"/>
              <a:t>Deutsch-</a:t>
            </a:r>
            <a:r>
              <a:rPr lang="en-AU" sz="1800" b="0" dirty="0" err="1"/>
              <a:t>Josza</a:t>
            </a:r>
            <a:r>
              <a:rPr lang="en-AU" sz="1800" b="0" dirty="0"/>
              <a:t> Algorithm</a:t>
            </a:r>
          </a:p>
          <a:p>
            <a:pPr marL="342900" indent="-342900">
              <a:buFont typeface="+mj-lt"/>
              <a:buAutoNum type="arabicPeriod"/>
            </a:pPr>
            <a:endParaRPr lang="en-AU" sz="1800" b="0" dirty="0"/>
          </a:p>
          <a:p>
            <a:r>
              <a:rPr lang="en-AU" sz="1800" b="0" dirty="0"/>
              <a:t>Optional extras: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800" b="0" dirty="0"/>
              <a:t>Complexity of classical vs. quantum comparisons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800" b="0" dirty="0"/>
              <a:t>Challenges in quantum computing </a:t>
            </a:r>
          </a:p>
        </p:txBody>
      </p:sp>
    </p:spTree>
    <p:extLst>
      <p:ext uri="{BB962C8B-B14F-4D97-AF65-F5344CB8AC3E}">
        <p14:creationId xmlns:p14="http://schemas.microsoft.com/office/powerpoint/2010/main" val="3245387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F8DF33C0-47E8-2B6D-57C0-7FD5CCE6A7C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7176120" y="2422715"/>
            <a:ext cx="4815830" cy="321055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78082AA-0D89-98E5-20B9-9E4F8A51B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classical to quantum computing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D1ECC9-EAEB-6B30-822A-EEF501A6177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58EE4-0DF5-5253-23B8-95053CB1523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</a:t>
            </a:fld>
            <a:endParaRPr lang="en-AU" dirty="0"/>
          </a:p>
        </p:txBody>
      </p:sp>
      <p:pic>
        <p:nvPicPr>
          <p:cNvPr id="6" name="Picture 6" descr="Two women are seen by the Colossus computer.">
            <a:extLst>
              <a:ext uri="{FF2B5EF4-FFF2-40B4-BE49-F238E27FC236}">
                <a16:creationId xmlns:a16="http://schemas.microsoft.com/office/drawing/2014/main" id="{A300B78D-3700-51BF-13A0-055A4F7D81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28"/>
          <a:stretch/>
        </p:blipFill>
        <p:spPr bwMode="auto">
          <a:xfrm>
            <a:off x="728466" y="2557301"/>
            <a:ext cx="3783358" cy="3126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EF5902-15A4-AB73-2C1E-F776C81DD2BA}"/>
              </a:ext>
            </a:extLst>
          </p:cNvPr>
          <p:cNvSpPr txBox="1"/>
          <p:nvPr/>
        </p:nvSpPr>
        <p:spPr>
          <a:xfrm>
            <a:off x="1890565" y="1792089"/>
            <a:ext cx="1659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1943 </a:t>
            </a:r>
          </a:p>
          <a:p>
            <a:pPr algn="ctr"/>
            <a:r>
              <a:rPr lang="en-US" dirty="0"/>
              <a:t>First </a:t>
            </a:r>
            <a:r>
              <a:rPr lang="en-AU" dirty="0"/>
              <a:t>computer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FACD6A-FB79-0114-6505-86741CFA91DC}"/>
              </a:ext>
            </a:extLst>
          </p:cNvPr>
          <p:cNvSpPr txBox="1"/>
          <p:nvPr/>
        </p:nvSpPr>
        <p:spPr>
          <a:xfrm>
            <a:off x="8504253" y="1776384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2025 </a:t>
            </a:r>
          </a:p>
          <a:p>
            <a:pPr algn="ctr"/>
            <a:r>
              <a:rPr lang="en-AU" dirty="0"/>
              <a:t>Quantum computer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05A713-A446-9F93-FA49-088DD121EB92}"/>
              </a:ext>
            </a:extLst>
          </p:cNvPr>
          <p:cNvSpPr txBox="1"/>
          <p:nvPr/>
        </p:nvSpPr>
        <p:spPr>
          <a:xfrm>
            <a:off x="5004930" y="1792089"/>
            <a:ext cx="1980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2025 </a:t>
            </a:r>
          </a:p>
          <a:p>
            <a:pPr algn="ctr"/>
            <a:r>
              <a:rPr lang="en-AU" dirty="0"/>
              <a:t>Current computer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962165-1475-09A7-75B7-10C312497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848" y="3259458"/>
            <a:ext cx="2113681" cy="16317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33F4D60-717F-BF2F-7482-A2B94293DE48}"/>
              </a:ext>
            </a:extLst>
          </p:cNvPr>
          <p:cNvSpPr txBox="1"/>
          <p:nvPr/>
        </p:nvSpPr>
        <p:spPr>
          <a:xfrm>
            <a:off x="4996349" y="5085184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01010101010101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E11D43-BB7E-17FE-E255-E64508697D26}"/>
              </a:ext>
            </a:extLst>
          </p:cNvPr>
          <p:cNvSpPr/>
          <p:nvPr/>
        </p:nvSpPr>
        <p:spPr>
          <a:xfrm>
            <a:off x="384089" y="1792089"/>
            <a:ext cx="6624736" cy="4532936"/>
          </a:xfrm>
          <a:prstGeom prst="rect">
            <a:avLst/>
          </a:prstGeom>
          <a:solidFill>
            <a:srgbClr val="FFE397">
              <a:alpha val="1882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37D38E-8169-8CE2-2432-8056DA459DFB}"/>
              </a:ext>
            </a:extLst>
          </p:cNvPr>
          <p:cNvSpPr txBox="1"/>
          <p:nvPr/>
        </p:nvSpPr>
        <p:spPr>
          <a:xfrm>
            <a:off x="1576425" y="5873266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Millions of switches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9E88CA-C9B5-D08E-980E-1B968EE1008A}"/>
              </a:ext>
            </a:extLst>
          </p:cNvPr>
          <p:cNvSpPr txBox="1"/>
          <p:nvPr/>
        </p:nvSpPr>
        <p:spPr>
          <a:xfrm>
            <a:off x="5004930" y="5342910"/>
            <a:ext cx="1911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01110000111000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0B4FC5-8360-0E69-FD32-ADA585D0E584}"/>
              </a:ext>
            </a:extLst>
          </p:cNvPr>
          <p:cNvSpPr txBox="1"/>
          <p:nvPr/>
        </p:nvSpPr>
        <p:spPr>
          <a:xfrm>
            <a:off x="5017475" y="5731564"/>
            <a:ext cx="1037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= ON</a:t>
            </a:r>
          </a:p>
          <a:p>
            <a:r>
              <a:rPr lang="en-US" dirty="0"/>
              <a:t>1 = OFF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044042-6DD2-6574-AC65-4A4C9AF3D81F}"/>
              </a:ext>
            </a:extLst>
          </p:cNvPr>
          <p:cNvSpPr txBox="1"/>
          <p:nvPr/>
        </p:nvSpPr>
        <p:spPr>
          <a:xfrm>
            <a:off x="7447684" y="5732062"/>
            <a:ext cx="4403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Uses “quantum” rules instead of switches</a:t>
            </a:r>
          </a:p>
        </p:txBody>
      </p:sp>
    </p:spTree>
    <p:extLst>
      <p:ext uri="{BB962C8B-B14F-4D97-AF65-F5344CB8AC3E}">
        <p14:creationId xmlns:p14="http://schemas.microsoft.com/office/powerpoint/2010/main" val="83907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547C2-F558-AC30-8171-3CE1A54BF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AC4E99-64DC-03DA-06E2-5DBDFEFF3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10513242" cy="469056"/>
          </a:xfrm>
        </p:spPr>
        <p:txBody>
          <a:bodyPr/>
          <a:lstStyle/>
          <a:p>
            <a:r>
              <a:rPr lang="en-US" dirty="0"/>
              <a:t>How did we make a computer from electricity?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CBA13-66D2-E8ED-E478-5E29E21475C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4C4A6-2ABE-52F2-A218-D769E136DD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</a:t>
            </a:fld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F5FDC10-415E-FF7C-2E05-C331BF9048C1}"/>
              </a:ext>
            </a:extLst>
          </p:cNvPr>
          <p:cNvGrpSpPr/>
          <p:nvPr/>
        </p:nvGrpSpPr>
        <p:grpSpPr>
          <a:xfrm>
            <a:off x="357553" y="2314311"/>
            <a:ext cx="4035653" cy="3147550"/>
            <a:chOff x="1" y="0"/>
            <a:chExt cx="7265364" cy="6311356"/>
          </a:xfrm>
        </p:grpSpPr>
        <p:pic>
          <p:nvPicPr>
            <p:cNvPr id="4098" name="Picture 2" descr="&lt;HeadLine&gt;Lightning strikes near the town of Searchlight, Nevada as the first storm of the season passes throu..&lt;/HeadLine&gt;&#10;">
              <a:extLst>
                <a:ext uri="{FF2B5EF4-FFF2-40B4-BE49-F238E27FC236}">
                  <a16:creationId xmlns:a16="http://schemas.microsoft.com/office/drawing/2014/main" id="{5C6256A2-1C86-DC3B-6DE0-3A1EA3F08C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" y="0"/>
              <a:ext cx="7265364" cy="6311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3D8D0A-02CE-8259-5584-8F74D29692B3}"/>
                </a:ext>
              </a:extLst>
            </p:cNvPr>
            <p:cNvSpPr txBox="1"/>
            <p:nvPr/>
          </p:nvSpPr>
          <p:spPr>
            <a:xfrm>
              <a:off x="56811" y="5840632"/>
              <a:ext cx="6895437" cy="373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Source: https://</a:t>
              </a:r>
              <a:r>
                <a:rPr lang="en-US" sz="800" dirty="0" err="1">
                  <a:solidFill>
                    <a:schemeClr val="bg1"/>
                  </a:solidFill>
                </a:rPr>
                <a:t>www.reuters.com</a:t>
              </a:r>
              <a:r>
                <a:rPr lang="en-US" sz="800" dirty="0">
                  <a:solidFill>
                    <a:schemeClr val="bg1"/>
                  </a:solidFill>
                </a:rPr>
                <a:t>/news/picture/idUSRTR24K3J/undefined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55196FA-F3BC-DC2C-CE62-3DC3DDBFE371}"/>
              </a:ext>
            </a:extLst>
          </p:cNvPr>
          <p:cNvSpPr txBox="1"/>
          <p:nvPr/>
        </p:nvSpPr>
        <p:spPr>
          <a:xfrm>
            <a:off x="834310" y="1659802"/>
            <a:ext cx="2672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1752: Benjamin Franklin</a:t>
            </a:r>
          </a:p>
          <a:p>
            <a:pPr algn="ctr"/>
            <a:r>
              <a:rPr lang="en-US" dirty="0"/>
              <a:t>We see things in nature</a:t>
            </a:r>
          </a:p>
        </p:txBody>
      </p:sp>
      <p:pic>
        <p:nvPicPr>
          <p:cNvPr id="4102" name="Picture 6" descr="Two women are seen by the Colossus computer.">
            <a:extLst>
              <a:ext uri="{FF2B5EF4-FFF2-40B4-BE49-F238E27FC236}">
                <a16:creationId xmlns:a16="http://schemas.microsoft.com/office/drawing/2014/main" id="{5B48589D-79E3-E35E-525E-4777C0EB86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28"/>
          <a:stretch/>
        </p:blipFill>
        <p:spPr bwMode="auto">
          <a:xfrm>
            <a:off x="8400255" y="2425014"/>
            <a:ext cx="3505117" cy="289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EF2861-87D1-62BF-5EFF-4465AD5F0FEC}"/>
              </a:ext>
            </a:extLst>
          </p:cNvPr>
          <p:cNvSpPr txBox="1"/>
          <p:nvPr/>
        </p:nvSpPr>
        <p:spPr>
          <a:xfrm>
            <a:off x="8715972" y="1659802"/>
            <a:ext cx="3352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1943: First electronic computer</a:t>
            </a:r>
          </a:p>
          <a:p>
            <a:pPr algn="ctr"/>
            <a:r>
              <a:rPr lang="en-US" dirty="0"/>
              <a:t>We build the hardware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442D8D-B9D1-A913-EBAE-D7D5E0690772}"/>
              </a:ext>
            </a:extLst>
          </p:cNvPr>
          <p:cNvSpPr txBox="1"/>
          <p:nvPr/>
        </p:nvSpPr>
        <p:spPr>
          <a:xfrm>
            <a:off x="8406844" y="5104681"/>
            <a:ext cx="42137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Source: https://</a:t>
            </a:r>
            <a:r>
              <a:rPr lang="en-US" sz="800" dirty="0" err="1">
                <a:solidFill>
                  <a:schemeClr val="bg1"/>
                </a:solidFill>
              </a:rPr>
              <a:t>en.wikipedia.org</a:t>
            </a:r>
            <a:r>
              <a:rPr lang="en-US" sz="800" dirty="0">
                <a:solidFill>
                  <a:schemeClr val="bg1"/>
                </a:solidFill>
              </a:rPr>
              <a:t>/wiki/Computer#/media/</a:t>
            </a:r>
            <a:r>
              <a:rPr lang="en-US" sz="800" dirty="0" err="1">
                <a:solidFill>
                  <a:schemeClr val="bg1"/>
                </a:solidFill>
              </a:rPr>
              <a:t>File:Colossus.jpg</a:t>
            </a:r>
            <a:endParaRPr lang="en-US" sz="800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665456-E326-8720-3708-42B3B74F8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396" y="2306133"/>
            <a:ext cx="3244836" cy="18967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06F89A-6C25-4FBD-3988-ACF7B898C3F5}"/>
              </a:ext>
            </a:extLst>
          </p:cNvPr>
          <p:cNvSpPr txBox="1"/>
          <p:nvPr/>
        </p:nvSpPr>
        <p:spPr>
          <a:xfrm>
            <a:off x="4333261" y="1659802"/>
            <a:ext cx="3873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1861: Maxwell Equations</a:t>
            </a:r>
          </a:p>
          <a:p>
            <a:pPr algn="ctr"/>
            <a:r>
              <a:rPr lang="en-US" dirty="0"/>
              <a:t>We describe things via mathematics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BDB131-51EC-B489-2022-0CDF6C0FC4C2}"/>
              </a:ext>
            </a:extLst>
          </p:cNvPr>
          <p:cNvSpPr txBox="1"/>
          <p:nvPr/>
        </p:nvSpPr>
        <p:spPr>
          <a:xfrm>
            <a:off x="3215680" y="5831753"/>
            <a:ext cx="63115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It took us 200 years to control electricity to make computers</a:t>
            </a:r>
          </a:p>
        </p:txBody>
      </p:sp>
    </p:spTree>
    <p:extLst>
      <p:ext uri="{BB962C8B-B14F-4D97-AF65-F5344CB8AC3E}">
        <p14:creationId xmlns:p14="http://schemas.microsoft.com/office/powerpoint/2010/main" val="3866631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616E-8E5E-59AC-BA69-6F83092E5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9ED61B-8687-D50C-2581-A31870150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11233322" cy="469056"/>
          </a:xfrm>
        </p:spPr>
        <p:txBody>
          <a:bodyPr/>
          <a:lstStyle/>
          <a:p>
            <a:r>
              <a:rPr lang="en-US" dirty="0"/>
              <a:t>How will we make a computer from quantum rules?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60CE1E-74EB-FB23-02C6-A3506CD3248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96460" y="5211079"/>
            <a:ext cx="3360109" cy="108000"/>
          </a:xfrm>
        </p:spPr>
        <p:txBody>
          <a:bodyPr/>
          <a:lstStyle/>
          <a:p>
            <a:r>
              <a:rPr lang="en-AU" dirty="0"/>
              <a:t>https://</a:t>
            </a:r>
            <a:r>
              <a:rPr lang="en-AU" dirty="0" err="1"/>
              <a:t>en.wikipedia.org</a:t>
            </a:r>
            <a:r>
              <a:rPr lang="en-AU" dirty="0"/>
              <a:t>/wiki/Double-</a:t>
            </a:r>
            <a:r>
              <a:rPr lang="en-AU" dirty="0" err="1"/>
              <a:t>slit_experiment</a:t>
            </a:r>
            <a:r>
              <a:rPr lang="en-AU" dirty="0"/>
              <a:t>#/media/</a:t>
            </a:r>
            <a:r>
              <a:rPr lang="en-AU" dirty="0" err="1"/>
              <a:t>File:Double-slit.svg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EB9F4-F519-59DA-BA0A-67DE30B9A1C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5</a:t>
            </a:fld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5B2448-8B18-1E93-8E1B-831F1B7D6AE4}"/>
              </a:ext>
            </a:extLst>
          </p:cNvPr>
          <p:cNvSpPr txBox="1"/>
          <p:nvPr/>
        </p:nvSpPr>
        <p:spPr>
          <a:xfrm>
            <a:off x="396460" y="1646921"/>
            <a:ext cx="33601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1920s: Quantum mechanics confirmed in experiments</a:t>
            </a:r>
          </a:p>
          <a:p>
            <a:br>
              <a:rPr lang="en-AU" dirty="0"/>
            </a:br>
            <a:endParaRPr lang="en-AU" dirty="0"/>
          </a:p>
          <a:p>
            <a:endParaRPr lang="en-AU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2A1868-4F64-8575-BBA3-96FBB389B008}"/>
              </a:ext>
            </a:extLst>
          </p:cNvPr>
          <p:cNvSpPr txBox="1"/>
          <p:nvPr/>
        </p:nvSpPr>
        <p:spPr>
          <a:xfrm>
            <a:off x="9254580" y="1659802"/>
            <a:ext cx="2274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2010 - 2016 </a:t>
            </a:r>
          </a:p>
          <a:p>
            <a:pPr algn="ctr"/>
            <a:r>
              <a:rPr lang="en-AU" dirty="0"/>
              <a:t>Quantum computers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673DEA-ACAA-6BAD-7E20-2C7E504CEB2D}"/>
              </a:ext>
            </a:extLst>
          </p:cNvPr>
          <p:cNvSpPr txBox="1"/>
          <p:nvPr/>
        </p:nvSpPr>
        <p:spPr>
          <a:xfrm>
            <a:off x="4626143" y="1659802"/>
            <a:ext cx="3288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1970s – 1990s</a:t>
            </a:r>
          </a:p>
          <a:p>
            <a:pPr algn="ctr"/>
            <a:r>
              <a:rPr lang="en-US" dirty="0"/>
              <a:t>Quantum algorithms proposed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5605CBB-B301-4B2D-90BC-DBF185897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27838" y="2413106"/>
            <a:ext cx="3528466" cy="2584601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027570-BA23-71B9-2D7B-E9E658921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32" y="2733756"/>
            <a:ext cx="3879955" cy="2236230"/>
          </a:xfrm>
          <a:prstGeom prst="rect">
            <a:avLst/>
          </a:prstGeom>
        </p:spPr>
      </p:pic>
      <p:pic>
        <p:nvPicPr>
          <p:cNvPr id="6146" name="Picture 2" descr="Figure 1">
            <a:extLst>
              <a:ext uri="{FF2B5EF4-FFF2-40B4-BE49-F238E27FC236}">
                <a16:creationId xmlns:a16="http://schemas.microsoft.com/office/drawing/2014/main" id="{EDB030ED-B688-E22C-ACFA-6AE2E1524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4232" y="2732919"/>
            <a:ext cx="3594902" cy="226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117119A4-65CE-4578-8CEE-40E7678614CF}"/>
              </a:ext>
            </a:extLst>
          </p:cNvPr>
          <p:cNvSpPr txBox="1">
            <a:spLocks/>
          </p:cNvSpPr>
          <p:nvPr/>
        </p:nvSpPr>
        <p:spPr>
          <a:xfrm>
            <a:off x="4674232" y="5734533"/>
            <a:ext cx="3360109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https://</a:t>
            </a:r>
            <a:r>
              <a:rPr lang="en-AU" dirty="0" err="1"/>
              <a:t>www.nature.com</a:t>
            </a:r>
            <a:r>
              <a:rPr lang="en-AU" dirty="0"/>
              <a:t>/articles/414883a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491FDB-F426-FF2C-F770-0F52B5976DB3}"/>
              </a:ext>
            </a:extLst>
          </p:cNvPr>
          <p:cNvSpPr txBox="1"/>
          <p:nvPr/>
        </p:nvSpPr>
        <p:spPr>
          <a:xfrm>
            <a:off x="-47939" y="5898716"/>
            <a:ext cx="4248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see strange things in nature when things become very small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B29173-4B4A-E910-2615-68C2F1F98E5E}"/>
              </a:ext>
            </a:extLst>
          </p:cNvPr>
          <p:cNvSpPr txBox="1"/>
          <p:nvPr/>
        </p:nvSpPr>
        <p:spPr>
          <a:xfrm>
            <a:off x="9147659" y="5994937"/>
            <a:ext cx="2488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 build the hardware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D260A2-97E8-6EF7-EB27-4393FE39E7DC}"/>
              </a:ext>
            </a:extLst>
          </p:cNvPr>
          <p:cNvSpPr txBox="1"/>
          <p:nvPr/>
        </p:nvSpPr>
        <p:spPr>
          <a:xfrm>
            <a:off x="4223791" y="5994937"/>
            <a:ext cx="4045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describe quantum computing via mathematics</a:t>
            </a:r>
          </a:p>
        </p:txBody>
      </p:sp>
    </p:spTree>
    <p:extLst>
      <p:ext uri="{BB962C8B-B14F-4D97-AF65-F5344CB8AC3E}">
        <p14:creationId xmlns:p14="http://schemas.microsoft.com/office/powerpoint/2010/main" val="101508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D41787-F64A-5D99-B54C-302987983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vs. quantum computing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9CFA33-2AFB-BCD4-37CD-2C80E643B84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21F22-662A-9CA3-943C-43C29C8E65F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6</a:t>
            </a:fld>
            <a:endParaRPr lang="en-AU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AB0A15E-F2C1-DFA8-D22C-E44B8C67FB67}"/>
              </a:ext>
            </a:extLst>
          </p:cNvPr>
          <p:cNvGrpSpPr/>
          <p:nvPr/>
        </p:nvGrpSpPr>
        <p:grpSpPr>
          <a:xfrm>
            <a:off x="240620" y="1906879"/>
            <a:ext cx="5437275" cy="3683088"/>
            <a:chOff x="240620" y="1906879"/>
            <a:chExt cx="5437275" cy="36830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06F07B18-D396-65C5-C3F1-5CC62752E7B3}"/>
                    </a:ext>
                  </a:extLst>
                </p:cNvPr>
                <p:cNvSpPr/>
                <p:nvPr/>
              </p:nvSpPr>
              <p:spPr>
                <a:xfrm>
                  <a:off x="2514540" y="2276872"/>
                  <a:ext cx="1728192" cy="1584176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06F07B18-D396-65C5-C3F1-5CC62752E7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540" y="2276872"/>
                  <a:ext cx="1728192" cy="158417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A542169-46EE-6E70-FF07-BD5F8C05C7A1}"/>
                    </a:ext>
                  </a:extLst>
                </p:cNvPr>
                <p:cNvSpPr txBox="1"/>
                <p:nvPr/>
              </p:nvSpPr>
              <p:spPr>
                <a:xfrm>
                  <a:off x="597577" y="2792186"/>
                  <a:ext cx="1186735" cy="5535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A542169-46EE-6E70-FF07-BD5F8C05C7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577" y="2792186"/>
                  <a:ext cx="1186735" cy="55354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0B5B369-E298-2746-4C91-FF9679BA8FB0}"/>
                </a:ext>
              </a:extLst>
            </p:cNvPr>
            <p:cNvCxnSpPr>
              <a:cxnSpLocks/>
            </p:cNvCxnSpPr>
            <p:nvPr/>
          </p:nvCxnSpPr>
          <p:spPr>
            <a:xfrm>
              <a:off x="1861394" y="3068960"/>
              <a:ext cx="576064" cy="0"/>
            </a:xfrm>
            <a:prstGeom prst="line">
              <a:avLst/>
            </a:prstGeom>
            <a:ln w="76200">
              <a:solidFill>
                <a:schemeClr val="accent5"/>
              </a:solidFill>
              <a:headEnd type="none" w="med" len="med"/>
              <a:tailEnd type="triangl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24CC5CA-5EC9-2A3B-7919-80EBD7BFA025}"/>
                </a:ext>
              </a:extLst>
            </p:cNvPr>
            <p:cNvCxnSpPr>
              <a:cxnSpLocks/>
            </p:cNvCxnSpPr>
            <p:nvPr/>
          </p:nvCxnSpPr>
          <p:spPr>
            <a:xfrm>
              <a:off x="4319814" y="3068960"/>
              <a:ext cx="576064" cy="0"/>
            </a:xfrm>
            <a:prstGeom prst="line">
              <a:avLst/>
            </a:prstGeom>
            <a:ln w="76200">
              <a:solidFill>
                <a:schemeClr val="accent5"/>
              </a:solidFill>
              <a:headEnd type="none" w="med" len="med"/>
              <a:tailEnd type="triangl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54B2896-BD2C-D609-7C73-A60472CAE63C}"/>
                    </a:ext>
                  </a:extLst>
                </p:cNvPr>
                <p:cNvSpPr txBox="1"/>
                <p:nvPr/>
              </p:nvSpPr>
              <p:spPr>
                <a:xfrm>
                  <a:off x="4972958" y="2884294"/>
                  <a:ext cx="7049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54B2896-BD2C-D609-7C73-A60472CAE6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2958" y="2884294"/>
                  <a:ext cx="704937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B9D666-B1AA-2C90-DA30-0A3CECE64832}"/>
                </a:ext>
              </a:extLst>
            </p:cNvPr>
            <p:cNvSpPr txBox="1"/>
            <p:nvPr/>
          </p:nvSpPr>
          <p:spPr>
            <a:xfrm>
              <a:off x="2311681" y="1906879"/>
              <a:ext cx="21339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Classical computer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1C9FBB6-BACD-ACEF-3469-27BB04991926}"/>
                    </a:ext>
                  </a:extLst>
                </p:cNvPr>
                <p:cNvSpPr txBox="1"/>
                <p:nvPr/>
              </p:nvSpPr>
              <p:spPr>
                <a:xfrm>
                  <a:off x="240620" y="3429000"/>
                  <a:ext cx="154369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1C9FBB6-BACD-ACEF-3469-27BB049919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620" y="3429000"/>
                  <a:ext cx="1543692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55D1D48-F185-DE73-518E-8DC10B331566}"/>
                    </a:ext>
                  </a:extLst>
                </p:cNvPr>
                <p:cNvSpPr txBox="1"/>
                <p:nvPr/>
              </p:nvSpPr>
              <p:spPr>
                <a:xfrm>
                  <a:off x="1884829" y="5220635"/>
                  <a:ext cx="2987613" cy="369332"/>
                </a:xfrm>
                <a:prstGeom prst="rect">
                  <a:avLst/>
                </a:prstGeom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Deterministic outcome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55D1D48-F185-DE73-518E-8DC10B3315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4829" y="5220635"/>
                  <a:ext cx="2987613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695" t="-6452" b="-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DBA596D-2466-2311-6AF6-159A4AD4DF6C}"/>
                  </a:ext>
                </a:extLst>
              </p:cNvPr>
              <p:cNvSpPr/>
              <p:nvPr/>
            </p:nvSpPr>
            <p:spPr>
              <a:xfrm>
                <a:off x="8322960" y="2276872"/>
                <a:ext cx="1728192" cy="158417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DBA596D-2466-2311-6AF6-159A4AD4DF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2960" y="2276872"/>
                <a:ext cx="1728192" cy="15841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F290C9-8450-1A04-E5D8-BE704FC72848}"/>
                  </a:ext>
                </a:extLst>
              </p:cNvPr>
              <p:cNvSpPr txBox="1"/>
              <p:nvPr/>
            </p:nvSpPr>
            <p:spPr>
              <a:xfrm>
                <a:off x="6405997" y="2792186"/>
                <a:ext cx="1186735" cy="553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F290C9-8450-1A04-E5D8-BE704FC72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997" y="2792186"/>
                <a:ext cx="1186735" cy="5535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E55D17-23FF-5724-59D7-B39343F69608}"/>
              </a:ext>
            </a:extLst>
          </p:cNvPr>
          <p:cNvCxnSpPr>
            <a:cxnSpLocks/>
          </p:cNvCxnSpPr>
          <p:nvPr/>
        </p:nvCxnSpPr>
        <p:spPr>
          <a:xfrm>
            <a:off x="7669814" y="3068960"/>
            <a:ext cx="576064" cy="0"/>
          </a:xfrm>
          <a:prstGeom prst="line">
            <a:avLst/>
          </a:prstGeom>
          <a:ln w="762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5D2962-6F40-5415-BE42-13BFDFCEA8FE}"/>
              </a:ext>
            </a:extLst>
          </p:cNvPr>
          <p:cNvCxnSpPr>
            <a:cxnSpLocks/>
          </p:cNvCxnSpPr>
          <p:nvPr/>
        </p:nvCxnSpPr>
        <p:spPr>
          <a:xfrm>
            <a:off x="10128234" y="3068960"/>
            <a:ext cx="576064" cy="0"/>
          </a:xfrm>
          <a:prstGeom prst="line">
            <a:avLst/>
          </a:prstGeom>
          <a:ln w="762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D18AFC-CD8D-3F69-23F9-77C775927E16}"/>
                  </a:ext>
                </a:extLst>
              </p:cNvPr>
              <p:cNvSpPr txBox="1"/>
              <p:nvPr/>
            </p:nvSpPr>
            <p:spPr>
              <a:xfrm>
                <a:off x="10704298" y="2404990"/>
                <a:ext cx="1423147" cy="11647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0, </m:t>
                                </m:r>
                                <m:sSub>
                                  <m:sSubPr>
                                    <m:ctrl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   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  <m:r>
                                  <m:rPr>
                                    <m:brk m:alnAt="7"/>
                                  </m:rPr>
                                  <a:rPr lang="en-AU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   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A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en-AU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AU" i="1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11,</m:t>
                                    </m:r>
                                    <m:sSub>
                                      <m:sSubPr>
                                        <m:ctrlPr>
                                          <a:rPr lang="en-A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en-AU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AU" i="1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D18AFC-CD8D-3F69-23F9-77C775927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4298" y="2404990"/>
                <a:ext cx="1423147" cy="1164742"/>
              </a:xfrm>
              <a:prstGeom prst="rect">
                <a:avLst/>
              </a:prstGeom>
              <a:blipFill>
                <a:blip r:embed="rId9"/>
                <a:stretch>
                  <a:fillRect t="-1075" b="-4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57D7CF8-9BD6-76F9-992C-3A4B16CBDAA3}"/>
              </a:ext>
            </a:extLst>
          </p:cNvPr>
          <p:cNvSpPr txBox="1"/>
          <p:nvPr/>
        </p:nvSpPr>
        <p:spPr>
          <a:xfrm>
            <a:off x="8107276" y="1906879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Quantum computer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F0D9B4-1574-676B-F8F7-E8EC9D8CEDA6}"/>
                  </a:ext>
                </a:extLst>
              </p:cNvPr>
              <p:cNvSpPr txBox="1"/>
              <p:nvPr/>
            </p:nvSpPr>
            <p:spPr>
              <a:xfrm>
                <a:off x="6067437" y="3341791"/>
                <a:ext cx="15436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F0D9B4-1574-676B-F8F7-E8EC9D8CE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437" y="3341791"/>
                <a:ext cx="1543692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328A13-CA32-F50E-84F7-8E39A8F9CD07}"/>
                  </a:ext>
                </a:extLst>
              </p:cNvPr>
              <p:cNvSpPr txBox="1"/>
              <p:nvPr/>
            </p:nvSpPr>
            <p:spPr>
              <a:xfrm>
                <a:off x="7391885" y="5220635"/>
                <a:ext cx="3590342" cy="369332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Random outcomes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with prob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328A13-CA32-F50E-84F7-8E39A8F9C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885" y="5220635"/>
                <a:ext cx="3590342" cy="369332"/>
              </a:xfrm>
              <a:prstGeom prst="rect">
                <a:avLst/>
              </a:prstGeom>
              <a:blipFill>
                <a:blip r:embed="rId11"/>
                <a:stretch>
                  <a:fillRect l="-1767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D33B792F-2942-6F8C-A9C1-F9DC9A845E51}"/>
              </a:ext>
            </a:extLst>
          </p:cNvPr>
          <p:cNvSpPr txBox="1"/>
          <p:nvPr/>
        </p:nvSpPr>
        <p:spPr>
          <a:xfrm>
            <a:off x="1906359" y="6105493"/>
            <a:ext cx="8379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Quantum Algorithms: Probability of finding (optimal) solutions maximized (near 1)</a:t>
            </a:r>
          </a:p>
        </p:txBody>
      </p:sp>
    </p:spTree>
    <p:extLst>
      <p:ext uri="{BB962C8B-B14F-4D97-AF65-F5344CB8AC3E}">
        <p14:creationId xmlns:p14="http://schemas.microsoft.com/office/powerpoint/2010/main" val="338772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7" grpId="0"/>
      <p:bldP spid="18" grpId="0"/>
      <p:bldP spid="20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DB382-75DA-691B-4ED1-9F99E26CA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225E7-7E5F-C310-D3F0-9B1FAB5CF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D722D-EC88-0778-CA11-C6C596CD47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87688" y="1699803"/>
            <a:ext cx="8120744" cy="3046988"/>
          </a:xfrm>
        </p:spPr>
        <p:txBody>
          <a:bodyPr/>
          <a:lstStyle/>
          <a:p>
            <a:pPr algn="ctr"/>
            <a:r>
              <a:rPr lang="en-US" dirty="0"/>
              <a:t> When do “Quantum” rules in Nature apply?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B59A5-EFAF-342A-1140-81CB0BC34EAB}"/>
              </a:ext>
            </a:extLst>
          </p:cNvPr>
          <p:cNvSpPr txBox="1"/>
          <p:nvPr/>
        </p:nvSpPr>
        <p:spPr>
          <a:xfrm>
            <a:off x="8185638" y="62337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00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CEA8E17-9A5A-2287-C73B-EAB2B7C81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5326" y="1448768"/>
            <a:ext cx="6341668" cy="464527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066" name="Title 2">
            <a:extLst>
              <a:ext uri="{FF2B5EF4-FFF2-40B4-BE49-F238E27FC236}">
                <a16:creationId xmlns:a16="http://schemas.microsoft.com/office/drawing/2014/main" id="{B81024AF-F479-B364-DA76-56CBE555F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/>
          <a:p>
            <a:r>
              <a:rPr lang="en-US" dirty="0"/>
              <a:t>Today’s quantum computer</a:t>
            </a:r>
          </a:p>
        </p:txBody>
      </p:sp>
      <p:sp>
        <p:nvSpPr>
          <p:cNvPr id="2067" name="Footer Placeholder 3">
            <a:extLst>
              <a:ext uri="{FF2B5EF4-FFF2-40B4-BE49-F238E27FC236}">
                <a16:creationId xmlns:a16="http://schemas.microsoft.com/office/drawing/2014/main" id="{B51B8A63-6DBC-FDC1-E2F6-D6E2DD6AF65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5326" y="6526800"/>
            <a:ext cx="3360109" cy="108000"/>
          </a:xfrm>
        </p:spPr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949CB-0813-2100-1A5F-CF9F926D909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8</a:t>
            </a:fld>
            <a:endParaRPr lang="en-AU" sz="700"/>
          </a:p>
        </p:txBody>
      </p:sp>
      <p:pic>
        <p:nvPicPr>
          <p:cNvPr id="2054" name="Picture 6" descr="IBM releases first-ever 1,000-qubit quantum chip">
            <a:extLst>
              <a:ext uri="{FF2B5EF4-FFF2-40B4-BE49-F238E27FC236}">
                <a16:creationId xmlns:a16="http://schemas.microsoft.com/office/drawing/2014/main" id="{86B4A504-75B3-E07A-7874-3D75C7CE2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488" y="2344802"/>
            <a:ext cx="5077512" cy="2853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D74EF23-0AFD-7764-ABBD-E6F5D1264E75}"/>
              </a:ext>
            </a:extLst>
          </p:cNvPr>
          <p:cNvCxnSpPr>
            <a:cxnSpLocks/>
          </p:cNvCxnSpPr>
          <p:nvPr/>
        </p:nvCxnSpPr>
        <p:spPr>
          <a:xfrm flipV="1">
            <a:off x="3830156" y="3243073"/>
            <a:ext cx="5398192" cy="1872208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2C3FFD-0678-4AC4-48E9-E110141B585C}"/>
              </a:ext>
            </a:extLst>
          </p:cNvPr>
          <p:cNvCxnSpPr>
            <a:cxnSpLocks/>
          </p:cNvCxnSpPr>
          <p:nvPr/>
        </p:nvCxnSpPr>
        <p:spPr>
          <a:xfrm flipV="1">
            <a:off x="3866160" y="4077072"/>
            <a:ext cx="5326184" cy="1120934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087A4BC-8712-7E24-5E56-53E01D8FD577}"/>
              </a:ext>
            </a:extLst>
          </p:cNvPr>
          <p:cNvSpPr txBox="1"/>
          <p:nvPr/>
        </p:nvSpPr>
        <p:spPr>
          <a:xfrm>
            <a:off x="8755113" y="1659994"/>
            <a:ext cx="17962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Very, very small</a:t>
            </a:r>
          </a:p>
          <a:p>
            <a:r>
              <a:rPr lang="en-US" dirty="0"/>
              <a:t>Very, very cold</a:t>
            </a:r>
          </a:p>
        </p:txBody>
      </p:sp>
    </p:spTree>
    <p:extLst>
      <p:ext uri="{BB962C8B-B14F-4D97-AF65-F5344CB8AC3E}">
        <p14:creationId xmlns:p14="http://schemas.microsoft.com/office/powerpoint/2010/main" val="177639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C85D5-5F3B-D9BF-7FDC-DAA229E26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71F3634-EB89-16F9-D08B-524E6F306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5326" y="1448768"/>
            <a:ext cx="6341668" cy="464527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066" name="Title 2">
            <a:extLst>
              <a:ext uri="{FF2B5EF4-FFF2-40B4-BE49-F238E27FC236}">
                <a16:creationId xmlns:a16="http://schemas.microsoft.com/office/drawing/2014/main" id="{82CC5790-3011-D3C8-5581-D43CEF076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/>
          <a:p>
            <a:r>
              <a:rPr lang="en-US" dirty="0"/>
              <a:t>Today’s quantum computer</a:t>
            </a:r>
          </a:p>
        </p:txBody>
      </p:sp>
      <p:sp>
        <p:nvSpPr>
          <p:cNvPr id="2067" name="Footer Placeholder 3">
            <a:extLst>
              <a:ext uri="{FF2B5EF4-FFF2-40B4-BE49-F238E27FC236}">
                <a16:creationId xmlns:a16="http://schemas.microsoft.com/office/drawing/2014/main" id="{C260D721-0F11-F0C9-6D50-506EED21C7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5326" y="6526800"/>
            <a:ext cx="3360109" cy="108000"/>
          </a:xfrm>
        </p:spPr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8B804-1DFD-DA4F-40AF-6E5DF2AEA71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9</a:t>
            </a:fld>
            <a:endParaRPr lang="en-AU" sz="700"/>
          </a:p>
        </p:txBody>
      </p:sp>
      <p:pic>
        <p:nvPicPr>
          <p:cNvPr id="2054" name="Picture 6" descr="IBM releases first-ever 1,000-qubit quantum chip">
            <a:extLst>
              <a:ext uri="{FF2B5EF4-FFF2-40B4-BE49-F238E27FC236}">
                <a16:creationId xmlns:a16="http://schemas.microsoft.com/office/drawing/2014/main" id="{EE1EC217-693C-04C9-03A6-7966495B6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357" y="1659994"/>
            <a:ext cx="5077512" cy="2853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30D6C2C-9739-D0CE-3E8F-34F7323D70EE}"/>
              </a:ext>
            </a:extLst>
          </p:cNvPr>
          <p:cNvCxnSpPr>
            <a:cxnSpLocks/>
          </p:cNvCxnSpPr>
          <p:nvPr/>
        </p:nvCxnSpPr>
        <p:spPr>
          <a:xfrm flipV="1">
            <a:off x="3830156" y="2396212"/>
            <a:ext cx="5362188" cy="2719069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6EAF564-B7F6-EDB5-074D-6F12BA7D4BA7}"/>
              </a:ext>
            </a:extLst>
          </p:cNvPr>
          <p:cNvCxnSpPr>
            <a:cxnSpLocks/>
          </p:cNvCxnSpPr>
          <p:nvPr/>
        </p:nvCxnSpPr>
        <p:spPr>
          <a:xfrm flipV="1">
            <a:off x="3866160" y="3268675"/>
            <a:ext cx="5326184" cy="1929331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5602" name="Picture 2">
            <a:extLst>
              <a:ext uri="{FF2B5EF4-FFF2-40B4-BE49-F238E27FC236}">
                <a16:creationId xmlns:a16="http://schemas.microsoft.com/office/drawing/2014/main" id="{3F6EED59-BAED-924A-8FFC-2F6FE658F3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12" t="8124" r="5851" b="809"/>
          <a:stretch/>
        </p:blipFill>
        <p:spPr bwMode="auto">
          <a:xfrm>
            <a:off x="8978803" y="4698914"/>
            <a:ext cx="1601951" cy="2074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5542AE-0AB3-297A-C9CB-B9A50311FAE1}"/>
              </a:ext>
            </a:extLst>
          </p:cNvPr>
          <p:cNvCxnSpPr>
            <a:cxnSpLocks/>
          </p:cNvCxnSpPr>
          <p:nvPr/>
        </p:nvCxnSpPr>
        <p:spPr>
          <a:xfrm flipV="1">
            <a:off x="8978803" y="2884908"/>
            <a:ext cx="806646" cy="1796450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1E68D7-8ACA-33C7-5919-EE552C941B20}"/>
              </a:ext>
            </a:extLst>
          </p:cNvPr>
          <p:cNvCxnSpPr>
            <a:cxnSpLocks/>
          </p:cNvCxnSpPr>
          <p:nvPr/>
        </p:nvCxnSpPr>
        <p:spPr>
          <a:xfrm flipH="1" flipV="1">
            <a:off x="9870812" y="2884908"/>
            <a:ext cx="682724" cy="1814006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191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FEC0E-0A5C-43AA-38B8-17C58D32D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19514-94EB-0494-C84D-2A8572CCF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B3875-C509-599D-D5F5-C001BBFCA6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95736" y="2407097"/>
            <a:ext cx="8120744" cy="1015663"/>
          </a:xfrm>
        </p:spPr>
        <p:txBody>
          <a:bodyPr/>
          <a:lstStyle/>
          <a:p>
            <a:pPr algn="ctr"/>
            <a:r>
              <a:rPr lang="en-US" dirty="0"/>
              <a:t>“Quantum” rules</a:t>
            </a:r>
          </a:p>
        </p:txBody>
      </p:sp>
    </p:spTree>
    <p:extLst>
      <p:ext uri="{BB962C8B-B14F-4D97-AF65-F5344CB8AC3E}">
        <p14:creationId xmlns:p14="http://schemas.microsoft.com/office/powerpoint/2010/main" val="296906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D39976-001D-BFF1-8256-651425DBE30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844824"/>
            <a:ext cx="7200874" cy="424921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What is a ‘system’?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What is a ‘state’ of a system?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What is a ‘measurement’ / ‘outcome’?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DD2FE-EDE4-20D0-957C-2FC6F9BAC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first, a bad classical analogy….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C39462-E6FE-CB3D-81D7-FAC4B7E81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FC06B-34C5-7D26-FA0F-1BA5E7FBB07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11</a:t>
            </a:fld>
            <a:endParaRPr lang="en-AU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B7817C-8F77-E346-9B88-91238F7FCBA9}"/>
              </a:ext>
            </a:extLst>
          </p:cNvPr>
          <p:cNvGrpSpPr/>
          <p:nvPr/>
        </p:nvGrpSpPr>
        <p:grpSpPr>
          <a:xfrm>
            <a:off x="1919536" y="4126233"/>
            <a:ext cx="7930598" cy="1944216"/>
            <a:chOff x="1919536" y="4126233"/>
            <a:chExt cx="7930598" cy="19442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C38C88-735C-6016-FCBD-2AE1EC8C31DD}"/>
                </a:ext>
              </a:extLst>
            </p:cNvPr>
            <p:cNvSpPr/>
            <p:nvPr/>
          </p:nvSpPr>
          <p:spPr>
            <a:xfrm>
              <a:off x="1919536" y="4126233"/>
              <a:ext cx="2808312" cy="19442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SYSTEM collapses to a </a:t>
              </a:r>
              <a:r>
                <a:rPr lang="en-US" i="1" dirty="0"/>
                <a:t>state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757D19-2B72-FB21-6DBA-511CF120CBC6}"/>
                </a:ext>
              </a:extLst>
            </p:cNvPr>
            <p:cNvSpPr/>
            <p:nvPr/>
          </p:nvSpPr>
          <p:spPr>
            <a:xfrm>
              <a:off x="7041822" y="4126233"/>
              <a:ext cx="2808312" cy="19442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DETECTOR gets </a:t>
              </a:r>
              <a:r>
                <a:rPr lang="en-US" i="1" dirty="0"/>
                <a:t>measurements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E2F2E56-D397-06F4-9955-FE65A23B39FF}"/>
                </a:ext>
              </a:extLst>
            </p:cNvPr>
            <p:cNvCxnSpPr/>
            <p:nvPr/>
          </p:nvCxnSpPr>
          <p:spPr>
            <a:xfrm>
              <a:off x="5087888" y="5098341"/>
              <a:ext cx="165618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AB0FFFE-5ED0-3DCD-58F5-1B211900C074}"/>
                </a:ext>
              </a:extLst>
            </p:cNvPr>
            <p:cNvSpPr txBox="1"/>
            <p:nvPr/>
          </p:nvSpPr>
          <p:spPr>
            <a:xfrm>
              <a:off x="5087888" y="4364816"/>
              <a:ext cx="158248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Quantum </a:t>
              </a:r>
            </a:p>
            <a:p>
              <a:pPr algn="ctr"/>
              <a:r>
                <a:rPr lang="en-US" dirty="0"/>
                <a:t>entanglement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133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128F-A9A4-A218-44CF-EEBDF9DA4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C6E878C-E743-5D39-F5C8-6967916C7661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81897" y="1484784"/>
                <a:ext cx="11089306" cy="4500512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1800" b="0" dirty="0"/>
                  <a:t>All knowledge of a </a:t>
                </a:r>
                <a:r>
                  <a:rPr lang="en-US" sz="1800" dirty="0"/>
                  <a:t>system</a:t>
                </a:r>
                <a:r>
                  <a:rPr lang="en-US" sz="1800" b="0" dirty="0"/>
                  <a:t> is contained in a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AU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AU" sz="18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</m:oMath>
                </a14:m>
                <a:endParaRPr lang="en-AU" sz="1800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1800" b="0" dirty="0"/>
                  <a:t>All physically observable properties of a system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AU" sz="1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AU" sz="1800" b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</m:oMath>
                </a14:m>
                <a:r>
                  <a:rPr lang="en-US" sz="1800" b="0" dirty="0"/>
                  <a:t> are associated with a matrix </a:t>
                </a:r>
                <a14:m>
                  <m:oMath xmlns:m="http://schemas.openxmlformats.org/officeDocument/2006/math">
                    <m:r>
                      <a:rPr lang="en-AU" sz="1800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1800" b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1800" b="0" dirty="0"/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1800" b="0" dirty="0"/>
                  <a:t>We measure </a:t>
                </a:r>
                <a:r>
                  <a:rPr lang="en-US" sz="1800" dirty="0"/>
                  <a:t>outcome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800" b="1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AU" sz="18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en-US" sz="1800" b="0" dirty="0"/>
                  <a:t> which </a:t>
                </a:r>
                <a:r>
                  <a:rPr lang="en-US" sz="1800" b="0" i="1" dirty="0"/>
                  <a:t>collapses</a:t>
                </a:r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AU" sz="1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AU" sz="1800" b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  <m:r>
                      <a:rPr lang="en-AU" sz="18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 to a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A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sz="18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b="0" dirty="0"/>
                  <a:t> where </a:t>
                </a:r>
                <a14:m>
                  <m:oMath xmlns:m="http://schemas.openxmlformats.org/officeDocument/2006/math">
                    <m:r>
                      <a:rPr lang="en-AU" sz="1800" b="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|"/>
                        <m:endChr m:val="⟩"/>
                        <m:ctrlPr>
                          <a:rPr lang="en-A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sz="18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AU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A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sz="1800" b="1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AU" sz="18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800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1800" b="0" dirty="0"/>
                  <a:t>Measured </a:t>
                </a:r>
                <a:r>
                  <a:rPr lang="en-US" sz="1800" dirty="0"/>
                  <a:t>outcomes</a:t>
                </a:r>
                <a:r>
                  <a:rPr lang="en-US" sz="1800" b="0" dirty="0"/>
                  <a:t> of a system,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1800" b="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AU" sz="1800" b="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1800" b="0" dirty="0"/>
                  <a:t>, are not deterministic but </a:t>
                </a:r>
                <a:r>
                  <a:rPr lang="en-US" sz="1800" i="1" dirty="0"/>
                  <a:t>randomly measured </a:t>
                </a:r>
                <a:r>
                  <a:rPr lang="en-US" sz="1800" b="0" dirty="0"/>
                  <a:t>a with </a:t>
                </a:r>
                <a:r>
                  <a:rPr lang="en-US" sz="1800" dirty="0"/>
                  <a:t>probability</a:t>
                </a:r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AU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AU" sz="1800" b="0" i="0" smtClean="0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AU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b="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1800" b="0" dirty="0"/>
                  <a:t>Two properties of a system </a:t>
                </a:r>
                <a14:m>
                  <m:oMath xmlns:m="http://schemas.openxmlformats.org/officeDocument/2006/math">
                    <m:r>
                      <a:rPr lang="en-AU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18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AU" sz="1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b="0" dirty="0"/>
                  <a:t> can only be observed simultaneously if and only if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1800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AU" sz="1800" b="0" i="1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AU" sz="18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AU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b="0" dirty="0"/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1800" b="0" dirty="0"/>
                  <a:t>Predictions from quantum physics, i.e. measurement probabilities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AU" sz="18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AU" sz="18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AU" sz="1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AU" sz="1800" b="0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AU" sz="18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18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dirty="0"/>
                  <a:t>should be immune to changes in reference frames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C6E878C-E743-5D39-F5C8-6967916C76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81897" y="1484784"/>
                <a:ext cx="11089306" cy="4500512"/>
              </a:xfrm>
              <a:blipFill>
                <a:blip r:embed="rId2"/>
                <a:stretch>
                  <a:fillRect l="-1144" t="-1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31E45D4-9F26-3811-B2CF-FE3DA42D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rules (words)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78D79E-4798-E6D6-A6A4-E23097C92BD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019E9-6356-A8CC-FAF9-3E3263DE69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621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57B9C-DE52-1E5E-5EFA-D2711428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B6F7-5ED9-EEB7-B2DF-96BAF903F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3740D-D332-B1B8-3AE3-1545C116F9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95736" y="2407097"/>
            <a:ext cx="8120744" cy="1015663"/>
          </a:xfrm>
        </p:spPr>
        <p:txBody>
          <a:bodyPr/>
          <a:lstStyle/>
          <a:p>
            <a:pPr algn="ctr"/>
            <a:r>
              <a:rPr lang="en-US" dirty="0"/>
              <a:t>(math)</a:t>
            </a:r>
          </a:p>
        </p:txBody>
      </p:sp>
    </p:spTree>
    <p:extLst>
      <p:ext uri="{BB962C8B-B14F-4D97-AF65-F5344CB8AC3E}">
        <p14:creationId xmlns:p14="http://schemas.microsoft.com/office/powerpoint/2010/main" val="296982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CC08B8A-89A0-29BB-7C0A-90AEAD71329E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-168696" y="1916832"/>
                <a:ext cx="9745834" cy="2592288"/>
              </a:xfrm>
            </p:spPr>
            <p:txBody>
              <a:bodyPr/>
              <a:lstStyle/>
              <a:p>
                <a:pPr marL="1009650" lvl="4" indent="-285750"/>
                <a:r>
                  <a:rPr lang="en-US" sz="1800" dirty="0"/>
                  <a:t>System: An electron with 2 energy levels </a:t>
                </a:r>
              </a:p>
              <a:p>
                <a:pPr marL="1009650" lvl="4" indent="-285750"/>
                <a:r>
                  <a:rPr lang="en-US" sz="1800" dirty="0"/>
                  <a:t>Physical property </a:t>
                </a:r>
                <a14:m>
                  <m:oMath xmlns:m="http://schemas.openxmlformats.org/officeDocument/2006/math">
                    <m:r>
                      <a:rPr lang="en-AU" sz="18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AU" sz="18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A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AU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AU" sz="1800" dirty="0"/>
                  <a:t>: Energy </a:t>
                </a:r>
              </a:p>
              <a:p>
                <a:pPr marL="1009650" lvl="4" indent="-285750"/>
                <a:r>
                  <a:rPr lang="en-US" sz="1800" dirty="0"/>
                  <a:t>States: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A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AU" sz="1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A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AU" sz="1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AU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AU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1800" dirty="0"/>
                  <a:t> (ground) , </a:t>
                </a:r>
                <a14:m>
                  <m:oMath xmlns:m="http://schemas.openxmlformats.org/officeDocument/2006/math">
                    <m:r>
                      <a:rPr lang="en-AU" sz="1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sz="1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sz="18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AU" sz="1800" dirty="0"/>
                  <a:t> </a:t>
                </a:r>
                <a14:m>
                  <m:oMath xmlns:m="http://schemas.openxmlformats.org/officeDocument/2006/math">
                    <m:r>
                      <a:rPr lang="en-AU" sz="1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AU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AU" sz="1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AU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AU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1800" dirty="0"/>
                  <a:t> (excited)</a:t>
                </a:r>
              </a:p>
              <a:p>
                <a:pPr marL="1009650" lvl="4" indent="-285750"/>
                <a:r>
                  <a:rPr lang="en-US" sz="1800" dirty="0"/>
                  <a:t>Measurement: Shine a laser. An electron in excited state will decay, emitting a photon. Outcomes are:</a:t>
                </a:r>
              </a:p>
              <a:p>
                <a:pPr marL="285750" lvl="5" indent="-285750"/>
                <a:r>
                  <a:rPr lang="en-US" sz="2000" dirty="0"/>
                  <a:t>			Electron emits light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000" i="1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sz="2000" dirty="0"/>
                  <a:t>)  “click”</a:t>
                </a:r>
              </a:p>
              <a:p>
                <a:pPr marL="285750" lvl="5" indent="-285750"/>
                <a:r>
                  <a:rPr lang="en-US" sz="2000" dirty="0"/>
                  <a:t>			Electron stays dark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sz="2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/>
                  <a:t>) “no click”</a:t>
                </a:r>
                <a:endParaRPr lang="en-US" sz="1800" dirty="0"/>
              </a:p>
              <a:p>
                <a:pPr marL="1009650" lvl="4" indent="-285750"/>
                <a:endParaRPr lang="en-AU" sz="1800" dirty="0"/>
              </a:p>
              <a:p>
                <a:pPr marL="1009650" lvl="4" indent="-285750"/>
                <a:r>
                  <a:rPr lang="en-AU" sz="1800" dirty="0"/>
                  <a:t>Eigen decomposition of </a:t>
                </a:r>
                <a14:m>
                  <m:oMath xmlns:m="http://schemas.openxmlformats.org/officeDocument/2006/math">
                    <m:r>
                      <a:rPr lang="en-AU" sz="18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AU" sz="18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AU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18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AU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AU" sz="1800" b="0" i="1" smtClean="0">
                        <a:latin typeface="Cambria Math" panose="02040503050406030204" pitchFamily="18" charset="0"/>
                      </a:rPr>
                      <m:t> −|1⟩⟨1|</m:t>
                    </m:r>
                  </m:oMath>
                </a14:m>
                <a:endParaRPr lang="en-US" sz="1800" dirty="0"/>
              </a:p>
              <a:p>
                <a:pPr marL="285750" lvl="5" indent="-285750"/>
                <a:r>
                  <a:rPr lang="en-US" sz="2000" dirty="0"/>
                  <a:t>			</a:t>
                </a: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CC08B8A-89A0-29BB-7C0A-90AEAD7132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-168696" y="1916832"/>
                <a:ext cx="9745834" cy="2592288"/>
              </a:xfrm>
              <a:blipFill>
                <a:blip r:embed="rId2"/>
                <a:stretch>
                  <a:fillRect t="-2913" r="-1560" b="-62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D9CE907-4D40-1FCC-A949-966D502D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level system (qubit)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58C3B2-F4D8-9982-D739-F1C99B6B68A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D4A88-ECD0-338E-A6B8-A0BE1E894D7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542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9A52F-B454-C930-2D31-CB79C1595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F255DE5-41B5-5FC8-307F-DA7EFD1125BE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95326" y="1700808"/>
                <a:ext cx="11089306" cy="4500512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b="0" dirty="0"/>
                  <a:t>All knowledge of a </a:t>
                </a:r>
                <a:r>
                  <a:rPr lang="en-US" dirty="0"/>
                  <a:t>system</a:t>
                </a:r>
                <a:r>
                  <a:rPr lang="en-US" b="0" dirty="0"/>
                  <a:t> is contained in a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AU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</m:oMath>
                </a14:m>
                <a:endParaRPr lang="en-AU" b="0" dirty="0"/>
              </a:p>
              <a:p>
                <a:pPr marL="1181100" lvl="4" indent="-457200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AU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</m:oMath>
                </a14:m>
                <a:r>
                  <a:rPr lang="en-AU" b="0" dirty="0"/>
                  <a:t> lives in a complex vector space with an</a:t>
                </a:r>
                <a:r>
                  <a:rPr lang="en-AU" dirty="0"/>
                  <a:t> </a:t>
                </a:r>
                <a:r>
                  <a:rPr lang="en-AU" b="0" dirty="0"/>
                  <a:t>inner product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AU" b="0" dirty="0"/>
                  <a:t>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b="0" dirty="0"/>
                  <a:t>An observable </a:t>
                </a:r>
                <a:r>
                  <a:rPr lang="en-US" dirty="0"/>
                  <a:t>states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</a:t>
                </a:r>
                <a:r>
                  <a:rPr lang="en-US" b="0" dirty="0"/>
                  <a:t>of a system </a:t>
                </a:r>
                <a:r>
                  <a:rPr lang="en-US" dirty="0"/>
                  <a:t>is detected as outcome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0" dirty="0"/>
                  <a:t> . These are always eigenvalues,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AU" b="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0" dirty="0"/>
                  <a:t>, of a Hermitian operator, </a:t>
                </a:r>
                <a14:m>
                  <m:oMath xmlns:m="http://schemas.openxmlformats.org/officeDocument/2006/math">
                    <m:r>
                      <a:rPr lang="en-AU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b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b="0" dirty="0"/>
              </a:p>
              <a:p>
                <a:pPr marL="1009650" lvl="4" indent="-285750"/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AU" dirty="0"/>
                  <a:t> is an eigenvalue of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AU" dirty="0"/>
                  <a:t> if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|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⟩</m:t>
                    </m:r>
                    <m:r>
                      <a:rPr lang="en-AU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for some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.  The vector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is called an eigenvector.</a:t>
                </a:r>
              </a:p>
              <a:p>
                <a:pPr marL="1009650" lvl="4" indent="-285750"/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is Hermitian if and only if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 b="0" dirty="0"/>
                  <a:t>. This means measured outcome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0" dirty="0"/>
                  <a:t> is real.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b="0" dirty="0"/>
                  <a:t>Measured </a:t>
                </a:r>
                <a:r>
                  <a:rPr lang="en-US" dirty="0"/>
                  <a:t>outcomes</a:t>
                </a:r>
                <a:r>
                  <a:rPr lang="en-US" b="0" dirty="0"/>
                  <a:t> of a system,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AU" b="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0" dirty="0"/>
                  <a:t>, are not deterministic but randomly measured a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AU" b="0" i="0" smtClean="0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.</a:t>
                </a:r>
              </a:p>
              <a:p>
                <a:pPr marL="1181100" lvl="4" indent="-457200"/>
                <a:r>
                  <a:rPr lang="en-US" b="0" dirty="0"/>
                  <a:t>The system is reset from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AU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AU" b="0" dirty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</m:oMath>
                </a14:m>
                <a:r>
                  <a:rPr lang="en-US" b="0" dirty="0"/>
                  <a:t> to </a:t>
                </a:r>
                <a14:m>
                  <m:oMath xmlns:m="http://schemas.openxmlformats.org/officeDocument/2006/math">
                    <m:r>
                      <a:rPr lang="en-AU" b="0" dirty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AU" b="0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AU" b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b="0" dirty="0"/>
                  <a:t> after measurement (quantum bit becomes classical)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b="0" dirty="0"/>
                  <a:t>Two observed properties of a system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b="0" dirty="0"/>
                  <a:t> can only be observed simultaneously if and only if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AU" b="0" i="1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AU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b="0" dirty="0"/>
                  <a:t>Some transformations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AU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</m:oMath>
                </a14:m>
                <a:r>
                  <a:rPr lang="en-US" b="0" dirty="0"/>
                  <a:t>  (rotation, time evolution, spatial displacement) are unitary,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AU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AU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AU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>
                            <a:latin typeface="Cambria Math" panose="02040503050406030204" pitchFamily="18" charset="0"/>
                          </a:rPr>
                          <m:t>𝑈𝑈</m:t>
                        </m:r>
                      </m:e>
                      <m:sup>
                        <m:r>
                          <a:rPr lang="en-AU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AU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AU" b="0" dirty="0"/>
                  <a:t>. </a:t>
                </a:r>
              </a:p>
              <a:p>
                <a:pPr marL="1181100" lvl="4" indent="-457200"/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A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AU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AU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A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AU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†</m:t>
                                    </m:r>
                                  </m:sup>
                                </m:sSup>
                                <m:r>
                                  <a:rPr lang="en-A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a:rPr lang="en-AU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⟨</m:t>
                            </m:r>
                            <m:r>
                              <m:rPr>
                                <m:sty m:val="p"/>
                              </m:rPr>
                              <a:rPr lang="en-AU">
                                <a:latin typeface="Cambria Math" panose="02040503050406030204" pitchFamily="18" charset="0"/>
                              </a:rPr>
                              <m:t>Φ</m:t>
                            </m:r>
                            <m:sSup>
                              <m:sSupPr>
                                <m:ctrlPr>
                                  <a:rPr lang="en-A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p>
                                <m:r>
                                  <a:rPr lang="en-AU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†</m:t>
                                </m:r>
                              </m:sup>
                            </m:sSup>
                            <m:r>
                              <a:rPr lang="en-A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  <m:r>
                              <m:rPr>
                                <m:sty m:val="p"/>
                              </m:rPr>
                              <a:rPr lang="en-AU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Ψ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d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A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AU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AU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AU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  <m:r>
                                  <a:rPr lang="en-AU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AU" dirty="0"/>
              </a:p>
              <a:p>
                <a:pPr marL="1181100" lvl="4" indent="-457200"/>
                <a:r>
                  <a:rPr lang="en-AU" dirty="0"/>
                  <a:t>Reversible, “global phase”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AU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AU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  <m:r>
                      <a:rPr lang="en-AU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AU">
                        <a:latin typeface="Cambria Math" panose="02040503050406030204" pitchFamily="18" charset="0"/>
                      </a:rPr>
                      <m:t>Ψ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AU" dirty="0"/>
                  <a:t> doesn’t matter, length-preserving</a:t>
                </a:r>
              </a:p>
              <a:p>
                <a:pPr marL="1181100" lvl="4" indent="-457200"/>
                <a:r>
                  <a:rPr lang="en-AU" b="0" dirty="0"/>
                  <a:t>Measurements are not reversible / not unitary! Neither is </a:t>
                </a:r>
                <a:r>
                  <a:rPr lang="en-AU" dirty="0"/>
                  <a:t>noise acting on a quantum system!</a:t>
                </a:r>
                <a:endParaRPr lang="en-US" b="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F255DE5-41B5-5FC8-307F-DA7EFD1125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95326" y="1700808"/>
                <a:ext cx="11089306" cy="4500512"/>
              </a:xfrm>
              <a:blipFill>
                <a:blip r:embed="rId2"/>
                <a:stretch>
                  <a:fillRect l="-915" t="-1124" b="-7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190D27E-95B9-88C0-0EE0-06343268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quantum rules in </a:t>
            </a:r>
            <a:r>
              <a:rPr lang="en-US" dirty="0" err="1"/>
              <a:t>maths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66407-95B7-C5AC-905A-2D3B9E8601E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D0CC21-0247-450A-87A7-F18D1B5C817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4519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template" id="{86B9F688-8D75-9344-BD73-5BD3E99AE678}" vid="{4FC1BDD6-EB12-974A-BBA9-6BED1EA053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84F0916BBF724CA1E7D8F63C7F06BD" ma:contentTypeVersion="3" ma:contentTypeDescription="Create a new document." ma:contentTypeScope="" ma:versionID="f4444293139f7a37c994b13d524c33e3">
  <xsd:schema xmlns:xsd="http://www.w3.org/2001/XMLSchema" xmlns:xs="http://www.w3.org/2001/XMLSchema" xmlns:p="http://schemas.microsoft.com/office/2006/metadata/properties" xmlns:ns2="65b0f26f-95df-44cf-88fa-e9c7b5beb0cc" targetNamespace="http://schemas.microsoft.com/office/2006/metadata/properties" ma:root="true" ma:fieldsID="b9635e00277b2d59d79ce549094dd594" ns2:_="">
    <xsd:import namespace="65b0f26f-95df-44cf-88fa-e9c7b5beb0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b0f26f-95df-44cf-88fa-e9c7b5beb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A6ACFB-BBAF-41D0-B45A-5E57454824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2611DF2-16B0-48C6-8535-9B4FC183DA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b0f26f-95df-44cf-88fa-e9c7b5beb0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32F4D4E-5CC3-44EF-852B-455B45EFC0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University of Queensland</Template>
  <TotalTime>1311</TotalTime>
  <Words>921</Words>
  <Application>Microsoft Macintosh PowerPoint</Application>
  <PresentationFormat>Widescreen</PresentationFormat>
  <Paragraphs>142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 Math</vt:lpstr>
      <vt:lpstr>DM Sans</vt:lpstr>
      <vt:lpstr>Gotham Book</vt:lpstr>
      <vt:lpstr>Gotham Medium</vt:lpstr>
      <vt:lpstr>University of Queensland</vt:lpstr>
      <vt:lpstr>Dr. Riddhi S. Gupta Senior Research Fellow, SMP</vt:lpstr>
      <vt:lpstr>Agenda</vt:lpstr>
      <vt:lpstr>From classical to quantum computing</vt:lpstr>
      <vt:lpstr>How did we make a computer from electricity?</vt:lpstr>
      <vt:lpstr>How will we make a computer from quantum rules?</vt:lpstr>
      <vt:lpstr>Classical vs. quantum computing</vt:lpstr>
      <vt:lpstr>PowerPoint Presentation</vt:lpstr>
      <vt:lpstr>Today’s quantum computer</vt:lpstr>
      <vt:lpstr>Today’s quantum computer</vt:lpstr>
      <vt:lpstr>PowerPoint Presentation</vt:lpstr>
      <vt:lpstr>But first, a bad classical analogy….</vt:lpstr>
      <vt:lpstr>Quantum rules (words)</vt:lpstr>
      <vt:lpstr>PowerPoint Presentation</vt:lpstr>
      <vt:lpstr>Two level system (qubit)</vt:lpstr>
      <vt:lpstr>Summary of quantum rules in maths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Riddhi Gupta</dc:creator>
  <cp:lastModifiedBy>Riddhi Gupta</cp:lastModifiedBy>
  <cp:revision>8</cp:revision>
  <dcterms:created xsi:type="dcterms:W3CDTF">2025-05-20T00:48:15Z</dcterms:created>
  <dcterms:modified xsi:type="dcterms:W3CDTF">2025-05-22T23:37:23Z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  <property fmtid="{D5CDD505-2E9C-101B-9397-08002B2CF9AE}" pid="9" name="ContentTypeId">
    <vt:lpwstr>0x0101003C84F0916BBF724CA1E7D8F63C7F06BD</vt:lpwstr>
  </property>
</Properties>
</file>